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61" r:id="rId2"/>
    <p:sldId id="265" r:id="rId3"/>
    <p:sldId id="277" r:id="rId4"/>
    <p:sldId id="266" r:id="rId5"/>
    <p:sldId id="270" r:id="rId6"/>
    <p:sldId id="271" r:id="rId7"/>
    <p:sldId id="282" r:id="rId8"/>
    <p:sldId id="279" r:id="rId9"/>
    <p:sldId id="283" r:id="rId10"/>
    <p:sldId id="281" r:id="rId11"/>
    <p:sldId id="284" r:id="rId12"/>
    <p:sldId id="285" r:id="rId13"/>
    <p:sldId id="286" r:id="rId14"/>
    <p:sldId id="274" r:id="rId15"/>
    <p:sldId id="26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85D3D7-92D3-4B8D-AA6B-8F1C5D5080F1}" v="21" dt="2025-09-01T17:06:05.0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95" d="100"/>
          <a:sy n="95" d="100"/>
        </p:scale>
        <p:origin x="-206" y="20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3A6A79-D85F-4D25-B5FC-3B5D6704A7FD}"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3A6A79-D85F-4D25-B5FC-3B5D6704A7FD}" type="datetimeFigureOut">
              <a:rPr lang="en-IN" smtClean="0"/>
              <a:t>16-07-2026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DA358-1224-4AAF-A557-330CB2F189CB}" type="slidenum">
              <a:rPr lang="en-IN" smtClean="0"/>
              <a:t>‹#›</a:t>
            </a:fld>
            <a:endParaRPr lang="en-IN"/>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3A6A79-D85F-4D25-B5FC-3B5D6704A7FD}" type="datetimeFigureOut">
              <a:rPr lang="en-IN" smtClean="0"/>
              <a:t>16-07-2026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3A6A79-D85F-4D25-B5FC-3B5D6704A7FD}" type="datetimeFigureOut">
              <a:rPr lang="en-IN" smtClean="0"/>
              <a:t>16-07-2026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413A6A79-D85F-4D25-B5FC-3B5D6704A7FD}" type="datetimeFigureOut">
              <a:rPr lang="en-IN" smtClean="0"/>
              <a:t>16-07-2026</a:t>
            </a:fld>
            <a:endParaRPr lang="en-IN"/>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9B3DA358-1224-4AAF-A557-330CB2F189C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mallareddyuniversity.ac.in/" TargetMode="External"/><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A7DFAB-946D-4828-BEB0-01F20722E9B4}"/>
              </a:ext>
            </a:extLst>
          </p:cNvPr>
          <p:cNvSpPr>
            <a:spLocks noGrp="1"/>
          </p:cNvSpPr>
          <p:nvPr>
            <p:ph type="title"/>
          </p:nvPr>
        </p:nvSpPr>
        <p:spPr>
          <a:xfrm>
            <a:off x="92597" y="376988"/>
            <a:ext cx="12014522" cy="6382625"/>
          </a:xfrm>
        </p:spPr>
        <p:txBody>
          <a:bodyPr>
            <a:normAutofit/>
          </a:bodyPr>
          <a:lstStyle/>
          <a:p>
            <a:pPr marR="441960">
              <a:spcBef>
                <a:spcPts val="445"/>
              </a:spcBef>
              <a:spcAft>
                <a:spcPts val="0"/>
              </a:spcAft>
            </a:pPr>
            <a: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IN" sz="1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r>
            <a:br>
              <a:rPr lang="en-IN" sz="1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r>
            <a:br>
              <a:rPr lang="en-IN"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r>
            <a:b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Department of Computer Science &amp; Engineering</a:t>
            </a:r>
            <a:r>
              <a:rPr lang="en-US" sz="32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r>
            <a:br>
              <a:rPr lang="en-US" sz="32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smtClean="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smtClean="0">
                <a:solidFill>
                  <a:schemeClr val="tx1"/>
                </a:solidFill>
              </a:rPr>
              <a:t>Community </a:t>
            </a:r>
            <a:r>
              <a:rPr lang="en-US" sz="2800" b="1" dirty="0">
                <a:solidFill>
                  <a:schemeClr val="tx1"/>
                </a:solidFill>
              </a:rPr>
              <a:t>Garden &amp; Crop Sharing Platform</a:t>
            </a:r>
            <a:r>
              <a:rPr lang="en-IN" sz="2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r>
            <a:br>
              <a:rPr lang="en-IN" sz="2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r>
            <a:br>
              <a:rPr lang="en-IN"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r>
            <a:b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Batch </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no : </a:t>
            </a:r>
            <a:r>
              <a:rPr lang="en-IN"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80</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1</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2411CS010349 MOHAMMAD SHAHEBAZ ALI </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2</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2411CS010346 M. POOJITHA</a:t>
            </a:r>
            <a:r>
              <a:rPr lang="en-IN"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r>
            <a:br>
              <a:rPr lang="en-IN"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3</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2411CS010315 M. HASINI</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4</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fi-FI"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2411CS010322 MALEPU SRISHANTH</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r>
            <a:b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r>
            <a:b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6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b="1" cap="none"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4" name="image1.png"/>
          <p:cNvPicPr/>
          <p:nvPr/>
        </p:nvPicPr>
        <p:blipFill>
          <a:blip r:embed="rId2" cstate="print"/>
          <a:stretch>
            <a:fillRect/>
          </a:stretch>
        </p:blipFill>
        <p:spPr>
          <a:xfrm>
            <a:off x="1467292" y="570229"/>
            <a:ext cx="9080205" cy="1145540"/>
          </a:xfrm>
          <a:prstGeom prst="rect">
            <a:avLst/>
          </a:prstGeom>
        </p:spPr>
      </p:pic>
      <p:sp>
        <p:nvSpPr>
          <p:cNvPr id="6" name="Text Box 6"/>
          <p:cNvSpPr txBox="1">
            <a:spLocks noChangeArrowheads="1"/>
          </p:cNvSpPr>
          <p:nvPr/>
        </p:nvSpPr>
        <p:spPr bwMode="auto">
          <a:xfrm>
            <a:off x="3679817" y="1434803"/>
            <a:ext cx="4081950" cy="753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6350" marR="6350" algn="ctr">
              <a:lnSpc>
                <a:spcPct val="115000"/>
              </a:lnSpc>
              <a:spcAft>
                <a:spcPts val="0"/>
              </a:spcAft>
            </a:pPr>
            <a:r>
              <a:rPr lang="en-IN" sz="950" spc="-5" dirty="0">
                <a:effectLst/>
                <a:latin typeface="Calibri"/>
                <a:ea typeface="Calibri"/>
                <a:cs typeface="Times New Roman"/>
              </a:rPr>
              <a:t>(</a:t>
            </a:r>
            <a:r>
              <a:rPr lang="en-IN" sz="900" b="1" spc="-5" dirty="0" err="1">
                <a:effectLst/>
                <a:latin typeface="Calibri"/>
                <a:ea typeface="Calibri"/>
                <a:cs typeface="Times New Roman"/>
              </a:rPr>
              <a:t>Telangana</a:t>
            </a:r>
            <a:r>
              <a:rPr lang="en-IN" sz="900" b="1" spc="-10" dirty="0">
                <a:effectLst/>
                <a:latin typeface="Calibri"/>
                <a:ea typeface="Calibri"/>
                <a:cs typeface="Times New Roman"/>
              </a:rPr>
              <a:t> </a:t>
            </a:r>
            <a:r>
              <a:rPr lang="en-IN" sz="900" b="1" dirty="0">
                <a:effectLst/>
                <a:latin typeface="Calibri"/>
                <a:ea typeface="Calibri"/>
                <a:cs typeface="Times New Roman"/>
              </a:rPr>
              <a:t>State</a:t>
            </a:r>
            <a:r>
              <a:rPr lang="en-IN" sz="900" b="1" spc="-30" dirty="0">
                <a:effectLst/>
                <a:latin typeface="Calibri"/>
                <a:ea typeface="Calibri"/>
                <a:cs typeface="Times New Roman"/>
              </a:rPr>
              <a:t> </a:t>
            </a:r>
            <a:r>
              <a:rPr lang="en-IN" sz="900" b="1" dirty="0">
                <a:effectLst/>
                <a:latin typeface="Calibri"/>
                <a:ea typeface="Calibri"/>
                <a:cs typeface="Times New Roman"/>
              </a:rPr>
              <a:t>Private</a:t>
            </a:r>
            <a:r>
              <a:rPr lang="en-IN" sz="900" b="1" spc="-50" dirty="0">
                <a:effectLst/>
                <a:latin typeface="Calibri"/>
                <a:ea typeface="Calibri"/>
                <a:cs typeface="Times New Roman"/>
              </a:rPr>
              <a:t> </a:t>
            </a:r>
            <a:r>
              <a:rPr lang="en-IN" sz="900" b="1" dirty="0">
                <a:effectLst/>
                <a:latin typeface="Calibri"/>
                <a:ea typeface="Calibri"/>
                <a:cs typeface="Times New Roman"/>
              </a:rPr>
              <a:t>Universities</a:t>
            </a:r>
            <a:r>
              <a:rPr lang="en-IN" sz="900" b="1" spc="-5" dirty="0">
                <a:effectLst/>
                <a:latin typeface="Calibri"/>
                <a:ea typeface="Calibri"/>
                <a:cs typeface="Times New Roman"/>
              </a:rPr>
              <a:t> </a:t>
            </a:r>
            <a:r>
              <a:rPr lang="en-IN" sz="900" b="1" dirty="0">
                <a:effectLst/>
                <a:latin typeface="Calibri"/>
                <a:ea typeface="Calibri"/>
                <a:cs typeface="Times New Roman"/>
              </a:rPr>
              <a:t>Act</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10" dirty="0">
                <a:effectLst/>
                <a:latin typeface="Calibri"/>
                <a:ea typeface="Calibri"/>
                <a:cs typeface="Times New Roman"/>
              </a:rPr>
              <a:t> </a:t>
            </a:r>
            <a:r>
              <a:rPr lang="en-IN" sz="900" b="1" dirty="0">
                <a:effectLst/>
                <a:latin typeface="Calibri"/>
                <a:ea typeface="Calibri"/>
                <a:cs typeface="Times New Roman"/>
              </a:rPr>
              <a:t>13</a:t>
            </a:r>
            <a:r>
              <a:rPr lang="en-IN" sz="900" b="1" spc="-30" dirty="0">
                <a:effectLst/>
                <a:latin typeface="Calibri"/>
                <a:ea typeface="Calibri"/>
                <a:cs typeface="Times New Roman"/>
              </a:rPr>
              <a:t> </a:t>
            </a:r>
            <a:r>
              <a:rPr lang="en-IN" sz="900" b="1" dirty="0">
                <a:effectLst/>
                <a:latin typeface="Calibri"/>
                <a:ea typeface="Calibri"/>
                <a:cs typeface="Times New Roman"/>
              </a:rPr>
              <a:t>of</a:t>
            </a:r>
            <a:r>
              <a:rPr lang="en-IN" sz="900" b="1" spc="-40" dirty="0">
                <a:effectLst/>
                <a:latin typeface="Calibri"/>
                <a:ea typeface="Calibri"/>
                <a:cs typeface="Times New Roman"/>
              </a:rPr>
              <a:t> </a:t>
            </a:r>
            <a:r>
              <a:rPr lang="en-IN" sz="900" b="1" dirty="0">
                <a:effectLst/>
                <a:latin typeface="Calibri"/>
                <a:ea typeface="Calibri"/>
                <a:cs typeface="Times New Roman"/>
              </a:rPr>
              <a:t>2020</a:t>
            </a:r>
            <a:r>
              <a:rPr lang="en-IN" sz="900" b="1" spc="-20" dirty="0">
                <a:effectLst/>
                <a:latin typeface="Calibri"/>
                <a:ea typeface="Calibri"/>
                <a:cs typeface="Times New Roman"/>
              </a:rPr>
              <a:t> </a:t>
            </a:r>
            <a:r>
              <a:rPr lang="en-IN" sz="900" b="1" dirty="0">
                <a:effectLst/>
                <a:latin typeface="Calibri"/>
                <a:ea typeface="Calibri"/>
                <a:cs typeface="Times New Roman"/>
              </a:rPr>
              <a:t>&amp;</a:t>
            </a:r>
            <a:endParaRPr lang="en-IN" sz="1100" dirty="0">
              <a:effectLst/>
              <a:latin typeface="Calibri"/>
              <a:ea typeface="Calibri"/>
              <a:cs typeface="Times New Roman"/>
            </a:endParaRPr>
          </a:p>
          <a:p>
            <a:pPr marL="5715" marR="6350" algn="ctr">
              <a:lnSpc>
                <a:spcPct val="115000"/>
              </a:lnSpc>
              <a:spcBef>
                <a:spcPts val="5"/>
              </a:spcBef>
              <a:spcAft>
                <a:spcPts val="0"/>
              </a:spcAft>
            </a:pPr>
            <a:r>
              <a:rPr lang="en-IN" sz="900" b="1" dirty="0">
                <a:effectLst/>
                <a:latin typeface="Calibri"/>
                <a:ea typeface="Calibri"/>
                <a:cs typeface="Times New Roman"/>
              </a:rPr>
              <a:t>G.O.Ms.</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25" dirty="0">
                <a:effectLst/>
                <a:latin typeface="Calibri"/>
                <a:ea typeface="Calibri"/>
                <a:cs typeface="Times New Roman"/>
              </a:rPr>
              <a:t> </a:t>
            </a:r>
            <a:r>
              <a:rPr lang="en-IN" sz="900" b="1" dirty="0">
                <a:effectLst/>
                <a:latin typeface="Calibri"/>
                <a:ea typeface="Calibri"/>
                <a:cs typeface="Times New Roman"/>
              </a:rPr>
              <a:t>14,</a:t>
            </a:r>
            <a:r>
              <a:rPr lang="en-IN" sz="900" b="1" spc="-50" dirty="0">
                <a:effectLst/>
                <a:latin typeface="Calibri"/>
                <a:ea typeface="Calibri"/>
                <a:cs typeface="Times New Roman"/>
              </a:rPr>
              <a:t> </a:t>
            </a:r>
            <a:r>
              <a:rPr lang="en-IN" sz="900" b="1" dirty="0">
                <a:effectLst/>
                <a:latin typeface="Calibri"/>
                <a:ea typeface="Calibri"/>
                <a:cs typeface="Times New Roman"/>
              </a:rPr>
              <a:t>Higher</a:t>
            </a:r>
            <a:r>
              <a:rPr lang="en-IN" sz="900" b="1" spc="-40" dirty="0">
                <a:effectLst/>
                <a:latin typeface="Calibri"/>
                <a:ea typeface="Calibri"/>
                <a:cs typeface="Times New Roman"/>
              </a:rPr>
              <a:t> </a:t>
            </a:r>
            <a:r>
              <a:rPr lang="en-IN" sz="900" b="1" dirty="0">
                <a:effectLst/>
                <a:latin typeface="Calibri"/>
                <a:ea typeface="Calibri"/>
                <a:cs typeface="Times New Roman"/>
              </a:rPr>
              <a:t>Education</a:t>
            </a:r>
            <a:r>
              <a:rPr lang="en-IN" sz="900" b="1" spc="-10" dirty="0">
                <a:effectLst/>
                <a:latin typeface="Calibri"/>
                <a:ea typeface="Calibri"/>
                <a:cs typeface="Times New Roman"/>
              </a:rPr>
              <a:t> </a:t>
            </a:r>
            <a:r>
              <a:rPr lang="en-IN" sz="900" b="1" dirty="0">
                <a:effectLst/>
                <a:latin typeface="Calibri"/>
                <a:ea typeface="Calibri"/>
                <a:cs typeface="Times New Roman"/>
              </a:rPr>
              <a:t>(UE)</a:t>
            </a:r>
            <a:r>
              <a:rPr lang="en-IN" sz="900" b="1" spc="-45" dirty="0">
                <a:effectLst/>
                <a:latin typeface="Calibri"/>
                <a:ea typeface="Calibri"/>
                <a:cs typeface="Times New Roman"/>
              </a:rPr>
              <a:t> </a:t>
            </a:r>
            <a:r>
              <a:rPr lang="en-IN" sz="900" b="1" dirty="0">
                <a:effectLst/>
                <a:latin typeface="Calibri"/>
                <a:ea typeface="Calibri"/>
                <a:cs typeface="Times New Roman"/>
              </a:rPr>
              <a:t>Department</a:t>
            </a:r>
            <a:r>
              <a:rPr lang="en-IN" sz="950" dirty="0">
                <a:effectLst/>
                <a:latin typeface="Calibri"/>
                <a:ea typeface="Calibri"/>
                <a:cs typeface="Times New Roman"/>
              </a:rPr>
              <a:t>)</a:t>
            </a:r>
            <a:endParaRPr lang="en-IN" sz="1100" dirty="0">
              <a:effectLst/>
              <a:latin typeface="Calibri"/>
              <a:ea typeface="Calibri"/>
              <a:cs typeface="Times New Roman"/>
            </a:endParaRPr>
          </a:p>
        </p:txBody>
      </p:sp>
      <p:sp>
        <p:nvSpPr>
          <p:cNvPr id="7" name="Text Box 3"/>
          <p:cNvSpPr txBox="1">
            <a:spLocks noChangeArrowheads="1"/>
          </p:cNvSpPr>
          <p:nvPr/>
        </p:nvSpPr>
        <p:spPr bwMode="auto">
          <a:xfrm>
            <a:off x="8952613" y="922963"/>
            <a:ext cx="1594884" cy="753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12700" marR="5080">
              <a:lnSpc>
                <a:spcPct val="92000"/>
              </a:lnSpc>
              <a:spcAft>
                <a:spcPts val="1000"/>
              </a:spcAft>
            </a:pPr>
            <a:r>
              <a:rPr lang="en-IN" sz="950" b="1" dirty="0" err="1">
                <a:effectLst/>
                <a:latin typeface="Calibri"/>
                <a:ea typeface="Calibri"/>
                <a:cs typeface="Times New Roman"/>
              </a:rPr>
              <a:t>Maisammaguda</a:t>
            </a:r>
            <a:r>
              <a:rPr lang="en-IN" sz="950" b="1" dirty="0">
                <a:effectLst/>
                <a:latin typeface="Calibri"/>
                <a:ea typeface="Calibri"/>
                <a:cs typeface="Times New Roman"/>
              </a:rPr>
              <a:t>, </a:t>
            </a:r>
            <a:r>
              <a:rPr lang="en-IN" sz="950" b="1" dirty="0" err="1">
                <a:effectLst/>
                <a:latin typeface="Calibri"/>
                <a:ea typeface="Calibri"/>
                <a:cs typeface="Times New Roman"/>
              </a:rPr>
              <a:t>Kompally</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Medchal</a:t>
            </a:r>
            <a:r>
              <a:rPr lang="en-IN" sz="950" b="1" spc="-20" dirty="0">
                <a:effectLst/>
                <a:latin typeface="Calibri"/>
                <a:ea typeface="Calibri"/>
                <a:cs typeface="Times New Roman"/>
              </a:rPr>
              <a:t> </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Malkajgiri</a:t>
            </a:r>
            <a:r>
              <a:rPr lang="en-IN" sz="950" b="1" spc="-35" dirty="0">
                <a:effectLst/>
                <a:latin typeface="Calibri"/>
                <a:ea typeface="Calibri"/>
                <a:cs typeface="Times New Roman"/>
              </a:rPr>
              <a:t> </a:t>
            </a:r>
            <a:r>
              <a:rPr lang="en-IN" sz="950" b="1" dirty="0">
                <a:effectLst/>
                <a:latin typeface="Calibri"/>
                <a:ea typeface="Calibri"/>
                <a:cs typeface="Times New Roman"/>
              </a:rPr>
              <a:t>District</a:t>
            </a:r>
            <a:r>
              <a:rPr lang="en-IN" sz="950" b="1" spc="-200" dirty="0">
                <a:effectLst/>
                <a:latin typeface="Calibri"/>
                <a:ea typeface="Calibri"/>
                <a:cs typeface="Times New Roman"/>
              </a:rPr>
              <a:t> </a:t>
            </a:r>
            <a:r>
              <a:rPr lang="en-IN" sz="950" b="1" dirty="0">
                <a:effectLst/>
                <a:latin typeface="Calibri"/>
                <a:ea typeface="Calibri"/>
                <a:cs typeface="Times New Roman"/>
              </a:rPr>
              <a:t>Hyderabad - 500100,</a:t>
            </a:r>
            <a:r>
              <a:rPr lang="en-IN" sz="950" b="1" spc="5" dirty="0">
                <a:effectLst/>
                <a:latin typeface="Calibri"/>
                <a:ea typeface="Calibri"/>
                <a:cs typeface="Times New Roman"/>
              </a:rPr>
              <a:t> </a:t>
            </a:r>
            <a:r>
              <a:rPr lang="en-IN" sz="950" b="1" dirty="0" err="1">
                <a:effectLst/>
                <a:latin typeface="Calibri"/>
                <a:ea typeface="Calibri"/>
                <a:cs typeface="Times New Roman"/>
              </a:rPr>
              <a:t>Telangana</a:t>
            </a:r>
            <a:r>
              <a:rPr lang="en-IN" sz="950" b="1" spc="5" dirty="0">
                <a:effectLst/>
                <a:latin typeface="Calibri"/>
                <a:ea typeface="Calibri"/>
                <a:cs typeface="Times New Roman"/>
              </a:rPr>
              <a:t> </a:t>
            </a:r>
            <a:r>
              <a:rPr lang="en-IN" sz="950" b="1" dirty="0">
                <a:effectLst/>
                <a:latin typeface="Calibri"/>
                <a:ea typeface="Calibri"/>
                <a:cs typeface="Times New Roman"/>
              </a:rPr>
              <a:t>State</a:t>
            </a:r>
            <a:r>
              <a:rPr lang="en-IN" sz="950" b="1" u="none" strike="noStrike" dirty="0">
                <a:effectLst/>
                <a:latin typeface="Calibri"/>
                <a:ea typeface="Calibri"/>
                <a:cs typeface="Times New Roman"/>
                <a:hlinkClick r:id="rId3"/>
              </a:rPr>
              <a:t>.</a:t>
            </a:r>
            <a:r>
              <a:rPr lang="en-IN" sz="950" b="1" spc="5" dirty="0">
                <a:effectLst/>
                <a:latin typeface="Calibri"/>
                <a:ea typeface="Calibri"/>
                <a:cs typeface="Times New Roman"/>
              </a:rPr>
              <a:t> </a:t>
            </a:r>
            <a:r>
              <a:rPr lang="en-IN" sz="950" b="1" u="none" strike="noStrike" dirty="0">
                <a:effectLst/>
                <a:latin typeface="Calibri"/>
                <a:ea typeface="Calibri"/>
                <a:cs typeface="Times New Roman"/>
                <a:hlinkClick r:id="rId3"/>
              </a:rPr>
              <a:t>www.mallareddyuniversity.</a:t>
            </a:r>
            <a:endParaRPr lang="en-IN" sz="1100" dirty="0">
              <a:effectLst/>
              <a:latin typeface="Calibri"/>
              <a:ea typeface="Calibri"/>
              <a:cs typeface="Times New Roman"/>
            </a:endParaRPr>
          </a:p>
        </p:txBody>
      </p:sp>
    </p:spTree>
    <p:extLst>
      <p:ext uri="{BB962C8B-B14F-4D97-AF65-F5344CB8AC3E}">
        <p14:creationId xmlns:p14="http://schemas.microsoft.com/office/powerpoint/2010/main" val="336483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Contents</a:t>
            </a:r>
            <a:endParaRPr lang="en-IN" dirty="0"/>
          </a:p>
        </p:txBody>
      </p:sp>
      <p:sp>
        <p:nvSpPr>
          <p:cNvPr id="3" name="TextBox 2"/>
          <p:cNvSpPr txBox="1"/>
          <p:nvPr/>
        </p:nvSpPr>
        <p:spPr>
          <a:xfrm>
            <a:off x="625642" y="1515979"/>
            <a:ext cx="10956757" cy="5016758"/>
          </a:xfrm>
          <a:prstGeom prst="rect">
            <a:avLst/>
          </a:prstGeom>
          <a:noFill/>
        </p:spPr>
        <p:txBody>
          <a:bodyPr wrap="square" rtlCol="0">
            <a:spAutoFit/>
          </a:bodyPr>
          <a:lstStyle/>
          <a:p>
            <a:pPr marL="285750" indent="-285750">
              <a:lnSpc>
                <a:spcPct val="200000"/>
              </a:lnSpc>
              <a:buClr>
                <a:schemeClr val="tx2"/>
              </a:buClr>
              <a:buFont typeface="Wingdings" panose="05000000000000000000" pitchFamily="2" charset="2"/>
              <a:buChar char="Ø"/>
            </a:pPr>
            <a:r>
              <a:rPr lang="en-IN" sz="2000" dirty="0"/>
              <a:t>Abstract</a:t>
            </a:r>
          </a:p>
          <a:p>
            <a:pPr marL="285750" indent="-285750">
              <a:lnSpc>
                <a:spcPct val="200000"/>
              </a:lnSpc>
              <a:buClr>
                <a:schemeClr val="tx2"/>
              </a:buClr>
              <a:buFont typeface="Wingdings" panose="05000000000000000000" pitchFamily="2" charset="2"/>
              <a:buChar char="Ø"/>
            </a:pPr>
            <a:r>
              <a:rPr lang="en-IN" sz="2000" dirty="0"/>
              <a:t>Introduction</a:t>
            </a:r>
          </a:p>
          <a:p>
            <a:pPr marL="285750" indent="-285750">
              <a:lnSpc>
                <a:spcPct val="200000"/>
              </a:lnSpc>
              <a:buClr>
                <a:schemeClr val="tx2"/>
              </a:buClr>
              <a:buFont typeface="Wingdings" panose="05000000000000000000" pitchFamily="2" charset="2"/>
              <a:buChar char="Ø"/>
            </a:pPr>
            <a:r>
              <a:rPr lang="en-IN" sz="2000" dirty="0"/>
              <a:t>Limitations of Existing Systems</a:t>
            </a:r>
          </a:p>
          <a:p>
            <a:pPr marL="285750" indent="-285750">
              <a:lnSpc>
                <a:spcPct val="200000"/>
              </a:lnSpc>
              <a:buClr>
                <a:schemeClr val="tx2"/>
              </a:buClr>
              <a:buFont typeface="Wingdings" panose="05000000000000000000" pitchFamily="2" charset="2"/>
              <a:buChar char="Ø"/>
            </a:pPr>
            <a:r>
              <a:rPr lang="en-IN" sz="2000" dirty="0"/>
              <a:t>Proposed Statement</a:t>
            </a:r>
          </a:p>
          <a:p>
            <a:pPr marL="285750" indent="-285750">
              <a:lnSpc>
                <a:spcPct val="200000"/>
              </a:lnSpc>
              <a:buClr>
                <a:schemeClr val="tx2"/>
              </a:buClr>
              <a:buFont typeface="Wingdings" panose="05000000000000000000" pitchFamily="2" charset="2"/>
              <a:buChar char="Ø"/>
            </a:pPr>
            <a:r>
              <a:rPr lang="en-IN" sz="2000" dirty="0"/>
              <a:t>Proposed Methodology(Architectural/Workflow Diagram)</a:t>
            </a:r>
          </a:p>
          <a:p>
            <a:pPr marL="285750" indent="-285750">
              <a:lnSpc>
                <a:spcPct val="200000"/>
              </a:lnSpc>
              <a:buClr>
                <a:schemeClr val="tx2"/>
              </a:buClr>
              <a:buFont typeface="Wingdings" panose="05000000000000000000" pitchFamily="2" charset="2"/>
              <a:buChar char="Ø"/>
            </a:pPr>
            <a:r>
              <a:rPr lang="en-IN" sz="2000" dirty="0"/>
              <a:t>Results</a:t>
            </a:r>
          </a:p>
          <a:p>
            <a:pPr marL="285750" indent="-285750">
              <a:lnSpc>
                <a:spcPct val="200000"/>
              </a:lnSpc>
              <a:buClr>
                <a:schemeClr val="tx2"/>
              </a:buClr>
              <a:buFont typeface="Wingdings" panose="05000000000000000000" pitchFamily="2" charset="2"/>
              <a:buChar char="Ø"/>
            </a:pPr>
            <a:r>
              <a:rPr lang="en-IN" sz="2000" dirty="0"/>
              <a:t>Screenshots of working model</a:t>
            </a:r>
          </a:p>
          <a:p>
            <a:pPr marL="285750" indent="-285750">
              <a:lnSpc>
                <a:spcPct val="200000"/>
              </a:lnSpc>
              <a:buClr>
                <a:schemeClr val="tx2"/>
              </a:buClr>
              <a:buFont typeface="Wingdings" panose="05000000000000000000" pitchFamily="2" charset="2"/>
              <a:buChar char="Ø"/>
            </a:pPr>
            <a:r>
              <a:rPr lang="en-IN" sz="2000" dirty="0" smtClean="0"/>
              <a:t>Conclusion</a:t>
            </a:r>
            <a:endParaRPr lang="en-IN" sz="2000" dirty="0"/>
          </a:p>
        </p:txBody>
      </p:sp>
    </p:spTree>
    <p:extLst>
      <p:ext uri="{BB962C8B-B14F-4D97-AF65-F5344CB8AC3E}">
        <p14:creationId xmlns:p14="http://schemas.microsoft.com/office/powerpoint/2010/main" val="3599880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0D4147F-6CCE-3752-CBE9-8E581FA3BFC5}"/>
              </a:ext>
            </a:extLst>
          </p:cNvPr>
          <p:cNvSpPr>
            <a:spLocks noGrp="1"/>
          </p:cNvSpPr>
          <p:nvPr>
            <p:ph idx="1"/>
          </p:nvPr>
        </p:nvSpPr>
        <p:spPr>
          <a:xfrm>
            <a:off x="513347" y="1291389"/>
            <a:ext cx="11069053" cy="5478379"/>
          </a:xfrm>
        </p:spPr>
        <p:txBody>
          <a:bodyPr>
            <a:normAutofit/>
          </a:bodyPr>
          <a:lstStyle/>
          <a:p>
            <a:pPr algn="just"/>
            <a:r>
              <a:rPr lang="en-US" sz="1800" dirty="0">
                <a:latin typeface="Cambria" pitchFamily="18" charset="0"/>
                <a:ea typeface="Cambria" pitchFamily="18" charset="0"/>
              </a:rPr>
              <a:t>The </a:t>
            </a:r>
            <a:r>
              <a:rPr lang="en-US" sz="1800" b="1" dirty="0">
                <a:latin typeface="Cambria" pitchFamily="18" charset="0"/>
                <a:ea typeface="Cambria" pitchFamily="18" charset="0"/>
              </a:rPr>
              <a:t>Community Garden &amp; Crop Sharing Platform</a:t>
            </a:r>
            <a:r>
              <a:rPr lang="en-US" sz="1800" dirty="0">
                <a:latin typeface="Cambria" pitchFamily="18" charset="0"/>
                <a:ea typeface="Cambria" pitchFamily="18" charset="0"/>
              </a:rPr>
              <a:t> is a digital solution designed to connect individuals and communities interested in growing, sharing, and exchanging home-grown crops. It provides a platform for users to list available produce, request items they need, and collaborate on community gardening projects. By enabling efficient crop sharing, the platform reduces food wastage, encourages sustainable living, and supports healthy eating habits.</a:t>
            </a:r>
          </a:p>
          <a:p>
            <a:pPr algn="just"/>
            <a:r>
              <a:rPr lang="en-US" sz="1800" dirty="0">
                <a:latin typeface="Cambria" pitchFamily="18" charset="0"/>
                <a:ea typeface="Cambria" pitchFamily="18" charset="0"/>
              </a:rPr>
              <a:t>The application incorporates location-based search, notifications, and real-time updates to ensure that users can find and share produce conveniently within their neighborhood. Users can participate in forums, discussions, and workshops to exchange gardening tips, learn sustainable farming practices, and engage with the community. This fosters a cooperative environment where knowledge and resources are shared effectively.</a:t>
            </a:r>
          </a:p>
          <a:p>
            <a:pPr algn="just"/>
            <a:r>
              <a:rPr lang="en-US" sz="1800" dirty="0">
                <a:latin typeface="Cambria" pitchFamily="18" charset="0"/>
                <a:ea typeface="Cambria" pitchFamily="18" charset="0"/>
              </a:rPr>
              <a:t>In addition to promoting community engagement, the platform emphasizes environmental sustainability. By reducing reliance on commercial produce and transportation, it helps minimize carbon footprints and encourages organic gardening practices. Users are able to track their contributions, crop exchanges, and environmental impact, making the process both transparent and rewarding.</a:t>
            </a:r>
          </a:p>
          <a:p>
            <a:pPr algn="just"/>
            <a:r>
              <a:rPr lang="en-US" sz="1800" dirty="0">
                <a:latin typeface="Cambria" pitchFamily="18" charset="0"/>
                <a:ea typeface="Cambria" pitchFamily="18" charset="0"/>
              </a:rPr>
              <a:t>Overall, this platform merges technology, community interaction, and sustainability into a single solution. It addresses urban food distribution challenges, provides access to fresh produce, and strengthens social bonds within the community. By leveraging digital tools, the platform empowers users to participate actively in creating greener, healthier, and more self-sufficient neighborhoods</a:t>
            </a:r>
            <a:r>
              <a:rPr lang="en-US" dirty="0">
                <a:latin typeface="Cambria" pitchFamily="18" charset="0"/>
                <a:ea typeface="Cambria" pitchFamily="18" charset="0"/>
              </a:rPr>
              <a:t>.</a:t>
            </a:r>
          </a:p>
          <a:p>
            <a:pPr marL="0" indent="0" algn="just">
              <a:buNone/>
            </a:pPr>
            <a:endParaRPr lang="en-IN" sz="1900" dirty="0">
              <a:latin typeface="Cambria" pitchFamily="18" charset="0"/>
              <a:ea typeface="Cambria" pitchFamily="18" charset="0"/>
              <a:cs typeface="Times New Roman" pitchFamily="18" charset="0"/>
            </a:endParaRPr>
          </a:p>
        </p:txBody>
      </p:sp>
      <p:sp>
        <p:nvSpPr>
          <p:cNvPr id="5" name="Arrow: Pentagon 4">
            <a:extLst>
              <a:ext uri="{FF2B5EF4-FFF2-40B4-BE49-F238E27FC236}">
                <a16:creationId xmlns:a16="http://schemas.microsoft.com/office/drawing/2014/main" xmlns="" id="{573975E0-D3DD-38F6-FCFC-D22E3979C377}"/>
              </a:ext>
            </a:extLst>
          </p:cNvPr>
          <p:cNvSpPr/>
          <p:nvPr/>
        </p:nvSpPr>
        <p:spPr>
          <a:xfrm>
            <a:off x="681789" y="565028"/>
            <a:ext cx="2999874" cy="63011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3200" b="1" dirty="0" smtClean="0">
                <a:solidFill>
                  <a:schemeClr val="tx1"/>
                </a:solidFill>
              </a:rPr>
              <a:t>   </a:t>
            </a:r>
          </a:p>
          <a:p>
            <a:r>
              <a:rPr lang="en-IN" sz="3600" b="1" dirty="0" smtClean="0">
                <a:solidFill>
                  <a:schemeClr val="tx1"/>
                </a:solidFill>
              </a:rPr>
              <a:t>Abstract</a:t>
            </a:r>
            <a:endParaRPr lang="en-IN" sz="3600" b="1" dirty="0">
              <a:solidFill>
                <a:schemeClr val="tx1"/>
              </a:solidFill>
            </a:endParaRPr>
          </a:p>
          <a:p>
            <a:pPr algn="ctr"/>
            <a:endParaRPr lang="en-IN" sz="3200" b="1" dirty="0">
              <a:solidFill>
                <a:schemeClr val="tx1"/>
              </a:solidFill>
            </a:endParaRPr>
          </a:p>
        </p:txBody>
      </p:sp>
    </p:spTree>
    <p:extLst>
      <p:ext uri="{BB962C8B-B14F-4D97-AF65-F5344CB8AC3E}">
        <p14:creationId xmlns:p14="http://schemas.microsoft.com/office/powerpoint/2010/main" val="1047171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EC7CC1D-D2CA-CAF4-A051-6123DA73A28C}"/>
              </a:ext>
            </a:extLst>
          </p:cNvPr>
          <p:cNvSpPr>
            <a:spLocks noGrp="1"/>
          </p:cNvSpPr>
          <p:nvPr>
            <p:ph idx="1"/>
          </p:nvPr>
        </p:nvSpPr>
        <p:spPr>
          <a:xfrm>
            <a:off x="64168" y="1179094"/>
            <a:ext cx="12127832" cy="5446295"/>
          </a:xfrm>
        </p:spPr>
        <p:txBody>
          <a:bodyPr>
            <a:noAutofit/>
          </a:bodyPr>
          <a:lstStyle/>
          <a:p>
            <a:pPr algn="just"/>
            <a:r>
              <a:rPr lang="en-US" sz="1800" dirty="0">
                <a:latin typeface="Cambria" pitchFamily="18" charset="0"/>
                <a:ea typeface="Cambria" pitchFamily="18" charset="0"/>
                <a:cs typeface="Times New Roman" pitchFamily="18" charset="0"/>
              </a:rPr>
              <a:t>The </a:t>
            </a:r>
            <a:r>
              <a:rPr lang="en-US" sz="1800" b="1" dirty="0">
                <a:latin typeface="Cambria" pitchFamily="18" charset="0"/>
                <a:ea typeface="Cambria" pitchFamily="18" charset="0"/>
                <a:cs typeface="Times New Roman" pitchFamily="18" charset="0"/>
              </a:rPr>
              <a:t>Community Garden &amp; Crop Sharing Platform</a:t>
            </a:r>
            <a:r>
              <a:rPr lang="en-US" sz="1800" dirty="0">
                <a:latin typeface="Cambria" pitchFamily="18" charset="0"/>
                <a:ea typeface="Cambria" pitchFamily="18" charset="0"/>
                <a:cs typeface="Times New Roman" pitchFamily="18" charset="0"/>
              </a:rPr>
              <a:t> is a digital application that connects people within a community who are interested in growing, sharing, and exchanging home-grown crops, fruits, and vegetables. It provides a convenient way for gardeners and residents to collaborate, share surplus produce, and access fresh, healthy food without relying solely on commercial sources. By promoting local food exchange, the platform encourages sustainable living and reduces the environmental impact of transportation and packaging.</a:t>
            </a:r>
          </a:p>
          <a:p>
            <a:pPr algn="just"/>
            <a:r>
              <a:rPr lang="en-US" sz="1800" dirty="0">
                <a:latin typeface="Cambria" pitchFamily="18" charset="0"/>
                <a:ea typeface="Cambria" pitchFamily="18" charset="0"/>
                <a:cs typeface="Times New Roman" pitchFamily="18" charset="0"/>
              </a:rPr>
              <a:t>Users can create personalized profiles, list the crops they have available, and request items they need from nearby community members. The platform includes features like map-based search, notifications for crop availability, and event participation, making it easy for users to find and share produce efficiently. This helps reduce food wastage and ensures that fresh, organic crops reach those who need them within the community.</a:t>
            </a:r>
          </a:p>
          <a:p>
            <a:pPr algn="just"/>
            <a:r>
              <a:rPr lang="en-US" sz="1800" dirty="0">
                <a:latin typeface="Cambria" pitchFamily="18" charset="0"/>
                <a:ea typeface="Cambria" pitchFamily="18" charset="0"/>
                <a:cs typeface="Times New Roman" pitchFamily="18" charset="0"/>
              </a:rPr>
              <a:t>In addition to crop sharing, the platform fosters social interaction and learning. Users can participate in forums, gardening discussions, and workshops, where they can exchange tips on sustainable farming, seasonal planting, and organic gardening techniques. Community projects such as group gardens or local harvest events encourage teamwork and strengthen the bonds between neighbors.</a:t>
            </a:r>
          </a:p>
          <a:p>
            <a:pPr algn="just"/>
            <a:r>
              <a:rPr lang="en-US" sz="1800" dirty="0">
                <a:latin typeface="Cambria" pitchFamily="18" charset="0"/>
                <a:ea typeface="Cambria" pitchFamily="18" charset="0"/>
                <a:cs typeface="Times New Roman" pitchFamily="18" charset="0"/>
              </a:rPr>
              <a:t>Overall, the Community Garden &amp; Crop Sharing Platform combines technology, sustainability, and community engagement into a single platform. It provides a user-friendly solution for eco-conscious living, supports healthy eating habits, and creates a cooperative environment where individuals can contribute to and benefit from local food resources. By integrating digital connectivity with traditional gardening practices, it offers a modern approach to building stronger, greener communities.</a:t>
            </a:r>
          </a:p>
          <a:p>
            <a:pPr marL="0" indent="0" algn="just">
              <a:buNone/>
            </a:pPr>
            <a:endParaRPr lang="en-US" sz="1800" dirty="0">
              <a:latin typeface="Cambria" pitchFamily="18" charset="0"/>
              <a:ea typeface="Cambria" pitchFamily="18" charset="0"/>
              <a:cs typeface="Times New Roman" pitchFamily="18" charset="0"/>
            </a:endParaRPr>
          </a:p>
        </p:txBody>
      </p:sp>
      <p:sp>
        <p:nvSpPr>
          <p:cNvPr id="4" name="Arrow: Pentagon 3">
            <a:extLst>
              <a:ext uri="{FF2B5EF4-FFF2-40B4-BE49-F238E27FC236}">
                <a16:creationId xmlns:a16="http://schemas.microsoft.com/office/drawing/2014/main" xmlns="" id="{2A76DCAF-0EEC-0161-72ED-56A32F014918}"/>
              </a:ext>
            </a:extLst>
          </p:cNvPr>
          <p:cNvSpPr/>
          <p:nvPr/>
        </p:nvSpPr>
        <p:spPr>
          <a:xfrm>
            <a:off x="336884" y="561474"/>
            <a:ext cx="3473117" cy="61762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Introduction</a:t>
            </a:r>
            <a:endParaRPr lang="en-IN" sz="3600" b="1" dirty="0">
              <a:solidFill>
                <a:schemeClr val="tx1"/>
              </a:solidFill>
            </a:endParaRPr>
          </a:p>
        </p:txBody>
      </p:sp>
    </p:spTree>
    <p:extLst>
      <p:ext uri="{BB962C8B-B14F-4D97-AF65-F5344CB8AC3E}">
        <p14:creationId xmlns:p14="http://schemas.microsoft.com/office/powerpoint/2010/main" val="2238958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379137D-3429-D632-71F8-7AEC26981054}"/>
              </a:ext>
            </a:extLst>
          </p:cNvPr>
          <p:cNvSpPr>
            <a:spLocks noGrp="1"/>
          </p:cNvSpPr>
          <p:nvPr>
            <p:ph idx="1"/>
          </p:nvPr>
        </p:nvSpPr>
        <p:spPr>
          <a:xfrm>
            <a:off x="545432" y="1403498"/>
            <a:ext cx="11036968" cy="5366270"/>
          </a:xfrm>
        </p:spPr>
        <p:txBody>
          <a:bodyPr>
            <a:noAutofit/>
          </a:bodyPr>
          <a:lstStyle/>
          <a:p>
            <a:pPr marL="0" indent="0" algn="just">
              <a:buNone/>
            </a:pPr>
            <a:r>
              <a:rPr lang="en-US" sz="1800" b="1" dirty="0">
                <a:latin typeface="Cambria" pitchFamily="18" charset="0"/>
                <a:ea typeface="Cambria" pitchFamily="18" charset="0"/>
                <a:cs typeface="Times New Roman" pitchFamily="18" charset="0"/>
              </a:rPr>
              <a:t>Manual Matching and Lack of Automation</a:t>
            </a:r>
            <a:endParaRPr lang="en-US" sz="1800" dirty="0">
              <a:latin typeface="Cambria" pitchFamily="18" charset="0"/>
              <a:ea typeface="Cambria" pitchFamily="18" charset="0"/>
              <a:cs typeface="Times New Roman" pitchFamily="18" charset="0"/>
            </a:endParaRPr>
          </a:p>
          <a:p>
            <a:pPr algn="just"/>
            <a:r>
              <a:rPr lang="en-US" sz="1800" dirty="0">
                <a:latin typeface="Cambria" pitchFamily="18" charset="0"/>
                <a:ea typeface="Cambria" pitchFamily="18" charset="0"/>
                <a:cs typeface="Times New Roman" pitchFamily="18" charset="0"/>
              </a:rPr>
              <a:t>Many existing platforms rely on manual processes for matching users with available crops, leading to inefficiency.</a:t>
            </a:r>
          </a:p>
          <a:p>
            <a:pPr algn="just"/>
            <a:r>
              <a:rPr lang="en-US" sz="1800" dirty="0">
                <a:latin typeface="Cambria" pitchFamily="18" charset="0"/>
                <a:ea typeface="Cambria" pitchFamily="18" charset="0"/>
                <a:cs typeface="Times New Roman" pitchFamily="18" charset="0"/>
              </a:rPr>
              <a:t>Users may have to browse multiple listings or wait for responses, which slows down the sharing process.</a:t>
            </a:r>
          </a:p>
          <a:p>
            <a:pPr algn="just"/>
            <a:r>
              <a:rPr lang="en-US" sz="1800" dirty="0">
                <a:latin typeface="Cambria" pitchFamily="18" charset="0"/>
                <a:ea typeface="Cambria" pitchFamily="18" charset="0"/>
                <a:cs typeface="Times New Roman" pitchFamily="18" charset="0"/>
              </a:rPr>
              <a:t>Current methods do not automatically suggest optimal exchanges based on location, quantity, or user preferences.</a:t>
            </a:r>
          </a:p>
          <a:p>
            <a:pPr marL="0" indent="0" algn="just">
              <a:buNone/>
            </a:pPr>
            <a:r>
              <a:rPr lang="en-US" sz="1800" b="1" dirty="0">
                <a:latin typeface="Cambria" pitchFamily="18" charset="0"/>
                <a:ea typeface="Cambria" pitchFamily="18" charset="0"/>
                <a:cs typeface="Times New Roman" pitchFamily="18" charset="0"/>
              </a:rPr>
              <a:t>Limited Geographic Optimization</a:t>
            </a:r>
            <a:endParaRPr lang="en-US" sz="1800" dirty="0">
              <a:latin typeface="Cambria" pitchFamily="18" charset="0"/>
              <a:ea typeface="Cambria" pitchFamily="18" charset="0"/>
              <a:cs typeface="Times New Roman" pitchFamily="18" charset="0"/>
            </a:endParaRPr>
          </a:p>
          <a:p>
            <a:pPr algn="just"/>
            <a:r>
              <a:rPr lang="en-US" sz="1800" dirty="0">
                <a:latin typeface="Cambria" pitchFamily="18" charset="0"/>
                <a:ea typeface="Cambria" pitchFamily="18" charset="0"/>
                <a:cs typeface="Times New Roman" pitchFamily="18" charset="0"/>
              </a:rPr>
              <a:t>Existing crop-sharing algorithms often do not account for precise location or distance, causing delays or wasted effort in physical exchanges.</a:t>
            </a:r>
          </a:p>
          <a:p>
            <a:pPr algn="just"/>
            <a:r>
              <a:rPr lang="en-US" sz="1800" dirty="0">
                <a:latin typeface="Cambria" pitchFamily="18" charset="0"/>
                <a:ea typeface="Cambria" pitchFamily="18" charset="0"/>
                <a:cs typeface="Times New Roman" pitchFamily="18" charset="0"/>
              </a:rPr>
              <a:t>Lack of route optimization can increase time and transportation effort for both donors and receivers.</a:t>
            </a:r>
          </a:p>
          <a:p>
            <a:pPr marL="0" indent="0" algn="just">
              <a:buNone/>
            </a:pPr>
            <a:r>
              <a:rPr lang="en-US" sz="1800" b="1" dirty="0">
                <a:latin typeface="Cambria" pitchFamily="18" charset="0"/>
                <a:ea typeface="Cambria" pitchFamily="18" charset="0"/>
                <a:cs typeface="Times New Roman" pitchFamily="18" charset="0"/>
              </a:rPr>
              <a:t>Poor Data Handling and Scalability</a:t>
            </a:r>
            <a:endParaRPr lang="en-US" sz="1800" dirty="0">
              <a:latin typeface="Cambria" pitchFamily="18" charset="0"/>
              <a:ea typeface="Cambria" pitchFamily="18" charset="0"/>
              <a:cs typeface="Times New Roman" pitchFamily="18" charset="0"/>
            </a:endParaRPr>
          </a:p>
          <a:p>
            <a:pPr algn="just"/>
            <a:r>
              <a:rPr lang="en-US" sz="1800" dirty="0">
                <a:latin typeface="Cambria" pitchFamily="18" charset="0"/>
                <a:ea typeface="Cambria" pitchFamily="18" charset="0"/>
                <a:cs typeface="Times New Roman" pitchFamily="18" charset="0"/>
              </a:rPr>
              <a:t>Many systems cannot handle large-scale data effectively, limiting the number of users and listings.</a:t>
            </a:r>
          </a:p>
          <a:p>
            <a:pPr algn="just"/>
            <a:r>
              <a:rPr lang="en-US" sz="1800" dirty="0">
                <a:latin typeface="Cambria" pitchFamily="18" charset="0"/>
                <a:ea typeface="Cambria" pitchFamily="18" charset="0"/>
                <a:cs typeface="Times New Roman" pitchFamily="18" charset="0"/>
              </a:rPr>
              <a:t>They may struggle with real-time updates, leading to outdated crop availability information.</a:t>
            </a:r>
          </a:p>
          <a:p>
            <a:pPr marL="0" indent="0" algn="just">
              <a:buNone/>
            </a:pPr>
            <a:r>
              <a:rPr lang="en-US" sz="1800" b="1" dirty="0">
                <a:latin typeface="Cambria" pitchFamily="18" charset="0"/>
                <a:ea typeface="Cambria" pitchFamily="18" charset="0"/>
                <a:cs typeface="Times New Roman" pitchFamily="18" charset="0"/>
              </a:rPr>
              <a:t>Inadequate Personalization and Recommendation</a:t>
            </a:r>
            <a:endParaRPr lang="en-US" sz="1800" dirty="0">
              <a:latin typeface="Cambria" pitchFamily="18" charset="0"/>
              <a:ea typeface="Cambria" pitchFamily="18" charset="0"/>
              <a:cs typeface="Times New Roman" pitchFamily="18" charset="0"/>
            </a:endParaRPr>
          </a:p>
          <a:p>
            <a:pPr algn="just"/>
            <a:r>
              <a:rPr lang="en-US" sz="1800" dirty="0">
                <a:latin typeface="Cambria" pitchFamily="18" charset="0"/>
                <a:ea typeface="Cambria" pitchFamily="18" charset="0"/>
                <a:cs typeface="Times New Roman" pitchFamily="18" charset="0"/>
              </a:rPr>
              <a:t>Current platforms rarely offer intelligent recommendations based on user behavior, crop preferences, or seasonal trends.</a:t>
            </a:r>
          </a:p>
          <a:p>
            <a:pPr algn="just"/>
            <a:r>
              <a:rPr lang="en-US" sz="1800" dirty="0">
                <a:latin typeface="Cambria" pitchFamily="18" charset="0"/>
                <a:ea typeface="Cambria" pitchFamily="18" charset="0"/>
                <a:cs typeface="Times New Roman" pitchFamily="18" charset="0"/>
              </a:rPr>
              <a:t>Users may miss opportunities to receive crops they frequently need or share surplus produce efficiently.</a:t>
            </a:r>
          </a:p>
          <a:p>
            <a:pPr marL="0" indent="0" algn="just">
              <a:buNone/>
            </a:pPr>
            <a:endParaRPr lang="en-IN" sz="1800" dirty="0">
              <a:latin typeface="Cambria" pitchFamily="18" charset="0"/>
              <a:ea typeface="Cambria" pitchFamily="18" charset="0"/>
              <a:cs typeface="Times New Roman" pitchFamily="18" charset="0"/>
            </a:endParaRPr>
          </a:p>
        </p:txBody>
      </p:sp>
      <p:sp>
        <p:nvSpPr>
          <p:cNvPr id="4" name="Arrow: Pentagon 3">
            <a:extLst>
              <a:ext uri="{FF2B5EF4-FFF2-40B4-BE49-F238E27FC236}">
                <a16:creationId xmlns:a16="http://schemas.microsoft.com/office/drawing/2014/main" xmlns="" id="{707D686F-29C5-BEDF-2C92-7C7D3F53F07E}"/>
              </a:ext>
            </a:extLst>
          </p:cNvPr>
          <p:cNvSpPr/>
          <p:nvPr/>
        </p:nvSpPr>
        <p:spPr>
          <a:xfrm>
            <a:off x="609600" y="595423"/>
            <a:ext cx="6665495" cy="808075"/>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Limitations Of Existing </a:t>
            </a:r>
            <a:r>
              <a:rPr lang="en-US" sz="3200" b="1" dirty="0" smtClean="0">
                <a:solidFill>
                  <a:schemeClr val="tx1"/>
                </a:solidFill>
              </a:rPr>
              <a:t>System</a:t>
            </a:r>
            <a:endParaRPr lang="en-IN" sz="3200" b="1" dirty="0">
              <a:solidFill>
                <a:schemeClr val="tx1"/>
              </a:solidFill>
            </a:endParaRPr>
          </a:p>
        </p:txBody>
      </p:sp>
    </p:spTree>
    <p:extLst>
      <p:ext uri="{BB962C8B-B14F-4D97-AF65-F5344CB8AC3E}">
        <p14:creationId xmlns:p14="http://schemas.microsoft.com/office/powerpoint/2010/main" val="2677155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EBD24CE-EB13-C713-1E6A-E302989E4DCD}"/>
              </a:ext>
            </a:extLst>
          </p:cNvPr>
          <p:cNvSpPr>
            <a:spLocks noGrp="1"/>
          </p:cNvSpPr>
          <p:nvPr>
            <p:ph idx="1"/>
          </p:nvPr>
        </p:nvSpPr>
        <p:spPr>
          <a:xfrm>
            <a:off x="609600" y="765544"/>
            <a:ext cx="10972800" cy="5711456"/>
          </a:xfrm>
        </p:spPr>
        <p:txBody>
          <a:bodyPr>
            <a:normAutofit/>
          </a:bodyPr>
          <a:lstStyle/>
          <a:p>
            <a:pPr marL="0" indent="0" algn="just">
              <a:buNone/>
            </a:pPr>
            <a:r>
              <a:rPr lang="en-US" sz="1800" b="1" dirty="0">
                <a:latin typeface="Cambria" pitchFamily="18" charset="0"/>
                <a:ea typeface="Cambria" pitchFamily="18" charset="0"/>
                <a:cs typeface="Times New Roman" pitchFamily="18" charset="0"/>
              </a:rPr>
              <a:t>Limited Community Engagement Features</a:t>
            </a:r>
            <a:endParaRPr lang="en-US" sz="1800" dirty="0">
              <a:latin typeface="Cambria" pitchFamily="18" charset="0"/>
              <a:ea typeface="Cambria" pitchFamily="18" charset="0"/>
              <a:cs typeface="Times New Roman" pitchFamily="18" charset="0"/>
            </a:endParaRPr>
          </a:p>
          <a:p>
            <a:pPr lvl="1" algn="just"/>
            <a:r>
              <a:rPr lang="en-US" sz="1800" dirty="0">
                <a:latin typeface="Cambria" pitchFamily="18" charset="0"/>
                <a:ea typeface="Cambria" pitchFamily="18" charset="0"/>
                <a:cs typeface="Times New Roman" pitchFamily="18" charset="0"/>
              </a:rPr>
              <a:t>Existing methods focus mainly on listing and exchanging crops but do not encourage social interaction, learning, or community participation.</a:t>
            </a:r>
          </a:p>
          <a:p>
            <a:pPr lvl="1" algn="just"/>
            <a:r>
              <a:rPr lang="en-US" sz="1800" dirty="0">
                <a:latin typeface="Cambria" pitchFamily="18" charset="0"/>
                <a:ea typeface="Cambria" pitchFamily="18" charset="0"/>
                <a:cs typeface="Times New Roman" pitchFamily="18" charset="0"/>
              </a:rPr>
              <a:t>Lack of integrated forums, events, or knowledge-sharing tools reduces the potential benefits of community gardening.</a:t>
            </a:r>
          </a:p>
          <a:p>
            <a:pPr marL="0" indent="0" algn="just">
              <a:buNone/>
            </a:pPr>
            <a:r>
              <a:rPr lang="en-US" sz="1800" b="1" dirty="0">
                <a:latin typeface="Cambria" pitchFamily="18" charset="0"/>
                <a:ea typeface="Cambria" pitchFamily="18" charset="0"/>
                <a:cs typeface="Times New Roman" pitchFamily="18" charset="0"/>
              </a:rPr>
              <a:t>Security and Privacy Concerns</a:t>
            </a:r>
            <a:endParaRPr lang="en-US" sz="1800" dirty="0">
              <a:latin typeface="Cambria" pitchFamily="18" charset="0"/>
              <a:ea typeface="Cambria" pitchFamily="18" charset="0"/>
              <a:cs typeface="Times New Roman" pitchFamily="18" charset="0"/>
            </a:endParaRPr>
          </a:p>
          <a:p>
            <a:pPr lvl="1" algn="just"/>
            <a:r>
              <a:rPr lang="en-US" sz="1800" dirty="0">
                <a:latin typeface="Cambria" pitchFamily="18" charset="0"/>
                <a:ea typeface="Cambria" pitchFamily="18" charset="0"/>
                <a:cs typeface="Times New Roman" pitchFamily="18" charset="0"/>
              </a:rPr>
              <a:t>Many crop-sharing platforms lack robust authentication and data privacy mechanisms.</a:t>
            </a:r>
          </a:p>
          <a:p>
            <a:pPr lvl="1" algn="just"/>
            <a:r>
              <a:rPr lang="en-US" sz="1800" dirty="0">
                <a:latin typeface="Cambria" pitchFamily="18" charset="0"/>
                <a:ea typeface="Cambria" pitchFamily="18" charset="0"/>
                <a:cs typeface="Times New Roman" pitchFamily="18" charset="0"/>
              </a:rPr>
              <a:t>User location and personal information may be exposed without proper safeguards.</a:t>
            </a:r>
          </a:p>
          <a:p>
            <a:pPr marL="0" indent="0" algn="just">
              <a:buNone/>
            </a:pPr>
            <a:r>
              <a:rPr lang="en-US" sz="1800" b="1" dirty="0">
                <a:latin typeface="Cambria" pitchFamily="18" charset="0"/>
                <a:ea typeface="Cambria" pitchFamily="18" charset="0"/>
                <a:cs typeface="Times New Roman" pitchFamily="18" charset="0"/>
              </a:rPr>
              <a:t>No Integration with Sustainability Metrics</a:t>
            </a:r>
            <a:endParaRPr lang="en-US" sz="1800" dirty="0">
              <a:latin typeface="Cambria" pitchFamily="18" charset="0"/>
              <a:ea typeface="Cambria" pitchFamily="18" charset="0"/>
              <a:cs typeface="Times New Roman" pitchFamily="18" charset="0"/>
            </a:endParaRPr>
          </a:p>
          <a:p>
            <a:pPr lvl="1" algn="just"/>
            <a:r>
              <a:rPr lang="en-US" sz="1800" dirty="0">
                <a:latin typeface="Cambria" pitchFamily="18" charset="0"/>
                <a:ea typeface="Cambria" pitchFamily="18" charset="0"/>
                <a:cs typeface="Times New Roman" pitchFamily="18" charset="0"/>
              </a:rPr>
              <a:t>Most existing systems do not track environmental impact, such as food wastage reduction or carbon footprint savings.</a:t>
            </a:r>
          </a:p>
          <a:p>
            <a:pPr lvl="1" algn="just"/>
            <a:r>
              <a:rPr lang="en-US" sz="1800" dirty="0">
                <a:latin typeface="Cambria" pitchFamily="18" charset="0"/>
                <a:ea typeface="Cambria" pitchFamily="18" charset="0"/>
                <a:cs typeface="Times New Roman" pitchFamily="18" charset="0"/>
              </a:rPr>
              <a:t>There is minimal support for promoting eco-friendly gardening practices.</a:t>
            </a:r>
          </a:p>
          <a:p>
            <a:pPr algn="just">
              <a:buFont typeface="Wingdings" pitchFamily="2" charset="2"/>
              <a:buChar char="q"/>
            </a:pPr>
            <a:endParaRPr lang="en-US" sz="1800" dirty="0">
              <a:latin typeface="Cambria" pitchFamily="18" charset="0"/>
              <a:ea typeface="Cambria" pitchFamily="18" charset="0"/>
              <a:cs typeface="Times New Roman" pitchFamily="18" charset="0"/>
            </a:endParaRPr>
          </a:p>
        </p:txBody>
      </p:sp>
    </p:spTree>
    <p:extLst>
      <p:ext uri="{BB962C8B-B14F-4D97-AF65-F5344CB8AC3E}">
        <p14:creationId xmlns:p14="http://schemas.microsoft.com/office/powerpoint/2010/main" val="1585589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row: Pentagon 4">
            <a:extLst>
              <a:ext uri="{FF2B5EF4-FFF2-40B4-BE49-F238E27FC236}">
                <a16:creationId xmlns:a16="http://schemas.microsoft.com/office/drawing/2014/main" xmlns="" id="{573975E0-D3DD-38F6-FCFC-D22E3979C377}"/>
              </a:ext>
            </a:extLst>
          </p:cNvPr>
          <p:cNvSpPr/>
          <p:nvPr/>
        </p:nvSpPr>
        <p:spPr>
          <a:xfrm>
            <a:off x="505326" y="857320"/>
            <a:ext cx="4251158" cy="650638"/>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3200" dirty="0">
                <a:solidFill>
                  <a:schemeClr val="tx1"/>
                </a:solidFill>
              </a:rPr>
              <a:t>Proposed </a:t>
            </a:r>
            <a:r>
              <a:rPr lang="en-IN" sz="3200" dirty="0" smtClean="0">
                <a:solidFill>
                  <a:schemeClr val="tx1"/>
                </a:solidFill>
              </a:rPr>
              <a:t>Statement</a:t>
            </a:r>
            <a:endParaRPr lang="en-IN" sz="3200" dirty="0">
              <a:solidFill>
                <a:schemeClr val="tx1"/>
              </a:solidFill>
            </a:endParaRPr>
          </a:p>
        </p:txBody>
      </p:sp>
      <p:sp>
        <p:nvSpPr>
          <p:cNvPr id="4" name="Title 3"/>
          <p:cNvSpPr>
            <a:spLocks noGrp="1"/>
          </p:cNvSpPr>
          <p:nvPr>
            <p:ph type="title"/>
          </p:nvPr>
        </p:nvSpPr>
        <p:spPr>
          <a:xfrm>
            <a:off x="433137" y="1403683"/>
            <a:ext cx="11518231" cy="5037221"/>
          </a:xfrm>
        </p:spPr>
        <p:txBody>
          <a:bodyPr>
            <a:noAutofit/>
          </a:bodyPr>
          <a:lstStyle/>
          <a:p>
            <a:r>
              <a:rPr lang="en-US" sz="1800" dirty="0" smtClean="0">
                <a:solidFill>
                  <a:schemeClr val="tx1"/>
                </a:solidFill>
                <a:latin typeface="Cambria" pitchFamily="18" charset="0"/>
                <a:ea typeface="Cambria" pitchFamily="18" charset="0"/>
              </a:rPr>
              <a:t>1. </a:t>
            </a:r>
            <a:r>
              <a:rPr lang="en-US" sz="1800" dirty="0">
                <a:solidFill>
                  <a:schemeClr val="tx1"/>
                </a:solidFill>
                <a:latin typeface="Cambria" pitchFamily="18" charset="0"/>
                <a:ea typeface="Cambria" pitchFamily="18" charset="0"/>
              </a:rPr>
              <a:t>User Registration and Profiles – Users can create personal profiles as gardeners, consumers, or volunteers, </a:t>
            </a:r>
            <a:r>
              <a:rPr lang="en-US" sz="1800" dirty="0" smtClean="0">
                <a:solidFill>
                  <a:schemeClr val="tx1"/>
                </a:solidFill>
                <a:latin typeface="Cambria" pitchFamily="18" charset="0"/>
                <a:ea typeface="Cambria" pitchFamily="18" charset="0"/>
              </a:rPr>
              <a:t>including their </a:t>
            </a:r>
            <a:r>
              <a:rPr lang="en-US" sz="1800" dirty="0">
                <a:solidFill>
                  <a:schemeClr val="tx1"/>
                </a:solidFill>
                <a:latin typeface="Cambria" pitchFamily="18" charset="0"/>
                <a:ea typeface="Cambria" pitchFamily="18" charset="0"/>
              </a:rPr>
              <a:t>location and gardening interests</a:t>
            </a:r>
            <a:r>
              <a:rPr lang="en-US" sz="1800" dirty="0" smtClean="0">
                <a:solidFill>
                  <a:schemeClr val="tx1"/>
                </a:solidFill>
                <a:latin typeface="Cambria" pitchFamily="18" charset="0"/>
                <a:ea typeface="Cambria" pitchFamily="18" charset="0"/>
              </a:rPr>
              <a:t>.</a:t>
            </a:r>
            <a:br>
              <a:rPr lang="en-US" sz="1800" dirty="0" smtClean="0">
                <a:solidFill>
                  <a:schemeClr val="tx1"/>
                </a:solidFill>
                <a:latin typeface="Cambria" pitchFamily="18" charset="0"/>
                <a:ea typeface="Cambria" pitchFamily="18" charset="0"/>
              </a:rPr>
            </a:br>
            <a:r>
              <a:rPr lang="en-US" sz="1800" dirty="0" smtClean="0">
                <a:solidFill>
                  <a:schemeClr val="tx1"/>
                </a:solidFill>
                <a:latin typeface="Cambria" pitchFamily="18" charset="0"/>
                <a:ea typeface="Cambria" pitchFamily="18" charset="0"/>
              </a:rPr>
              <a:t/>
            </a:r>
            <a:br>
              <a:rPr lang="en-US" sz="1800" dirty="0" smtClean="0">
                <a:solidFill>
                  <a:schemeClr val="tx1"/>
                </a:solidFill>
                <a:latin typeface="Cambria" pitchFamily="18" charset="0"/>
                <a:ea typeface="Cambria" pitchFamily="18" charset="0"/>
              </a:rPr>
            </a:br>
            <a:r>
              <a:rPr lang="en-US" sz="1800" dirty="0" smtClean="0">
                <a:solidFill>
                  <a:schemeClr val="tx1"/>
                </a:solidFill>
                <a:latin typeface="Cambria" pitchFamily="18" charset="0"/>
                <a:ea typeface="Cambria" pitchFamily="18" charset="0"/>
              </a:rPr>
              <a:t>2</a:t>
            </a:r>
            <a:r>
              <a:rPr lang="en-US" sz="1800" dirty="0">
                <a:solidFill>
                  <a:schemeClr val="tx1"/>
                </a:solidFill>
                <a:latin typeface="Cambria" pitchFamily="18" charset="0"/>
                <a:ea typeface="Cambria" pitchFamily="18" charset="0"/>
              </a:rPr>
              <a:t>. Garden Listing and Crop Management – Gardeners can list their gardens, upload crop details, and manage availability of produce</a:t>
            </a:r>
            <a:r>
              <a:rPr lang="en-US" sz="1800" dirty="0" smtClean="0">
                <a:solidFill>
                  <a:schemeClr val="tx1"/>
                </a:solidFill>
                <a:latin typeface="Cambria" pitchFamily="18" charset="0"/>
                <a:ea typeface="Cambria" pitchFamily="18" charset="0"/>
              </a:rPr>
              <a:t>.</a:t>
            </a:r>
            <a:br>
              <a:rPr lang="en-US" sz="1800" dirty="0" smtClean="0">
                <a:solidFill>
                  <a:schemeClr val="tx1"/>
                </a:solidFill>
                <a:latin typeface="Cambria" pitchFamily="18" charset="0"/>
                <a:ea typeface="Cambria" pitchFamily="18" charset="0"/>
              </a:rPr>
            </a:br>
            <a:r>
              <a:rPr lang="en-US" sz="1800" dirty="0" smtClean="0">
                <a:solidFill>
                  <a:schemeClr val="tx1"/>
                </a:solidFill>
                <a:latin typeface="Cambria" pitchFamily="18" charset="0"/>
                <a:ea typeface="Cambria" pitchFamily="18" charset="0"/>
              </a:rPr>
              <a:t/>
            </a:r>
            <a:br>
              <a:rPr lang="en-US" sz="1800" dirty="0" smtClean="0">
                <a:solidFill>
                  <a:schemeClr val="tx1"/>
                </a:solidFill>
                <a:latin typeface="Cambria" pitchFamily="18" charset="0"/>
                <a:ea typeface="Cambria" pitchFamily="18" charset="0"/>
              </a:rPr>
            </a:br>
            <a:r>
              <a:rPr lang="en-US" sz="1800" dirty="0" smtClean="0">
                <a:solidFill>
                  <a:schemeClr val="tx1"/>
                </a:solidFill>
                <a:latin typeface="Cambria" pitchFamily="18" charset="0"/>
                <a:ea typeface="Cambria" pitchFamily="18" charset="0"/>
              </a:rPr>
              <a:t>3</a:t>
            </a:r>
            <a:r>
              <a:rPr lang="en-US" sz="1800" dirty="0">
                <a:solidFill>
                  <a:schemeClr val="tx1"/>
                </a:solidFill>
                <a:latin typeface="Cambria" pitchFamily="18" charset="0"/>
                <a:ea typeface="Cambria" pitchFamily="18" charset="0"/>
              </a:rPr>
              <a:t>. Crop Sharing and Exchange System – Enables users to post available crops, request items from others, or schedule exchanges and donations</a:t>
            </a:r>
            <a:r>
              <a:rPr lang="en-US" sz="1800" dirty="0" smtClean="0">
                <a:solidFill>
                  <a:schemeClr val="tx1"/>
                </a:solidFill>
                <a:latin typeface="Cambria" pitchFamily="18" charset="0"/>
                <a:ea typeface="Cambria" pitchFamily="18" charset="0"/>
              </a:rPr>
              <a:t>.</a:t>
            </a:r>
            <a:br>
              <a:rPr lang="en-US" sz="1800" dirty="0" smtClean="0">
                <a:solidFill>
                  <a:schemeClr val="tx1"/>
                </a:solidFill>
                <a:latin typeface="Cambria" pitchFamily="18" charset="0"/>
                <a:ea typeface="Cambria" pitchFamily="18" charset="0"/>
              </a:rPr>
            </a:br>
            <a:r>
              <a:rPr lang="en-US" sz="1800" dirty="0" smtClean="0">
                <a:solidFill>
                  <a:schemeClr val="tx1"/>
                </a:solidFill>
                <a:latin typeface="Cambria" pitchFamily="18" charset="0"/>
                <a:ea typeface="Cambria" pitchFamily="18" charset="0"/>
              </a:rPr>
              <a:t/>
            </a:r>
            <a:br>
              <a:rPr lang="en-US" sz="1800" dirty="0" smtClean="0">
                <a:solidFill>
                  <a:schemeClr val="tx1"/>
                </a:solidFill>
                <a:latin typeface="Cambria" pitchFamily="18" charset="0"/>
                <a:ea typeface="Cambria" pitchFamily="18" charset="0"/>
              </a:rPr>
            </a:br>
            <a:r>
              <a:rPr lang="en-US" sz="1800" dirty="0" smtClean="0">
                <a:solidFill>
                  <a:schemeClr val="tx1"/>
                </a:solidFill>
                <a:latin typeface="Cambria" pitchFamily="18" charset="0"/>
                <a:ea typeface="Cambria" pitchFamily="18" charset="0"/>
              </a:rPr>
              <a:t>4</a:t>
            </a:r>
            <a:r>
              <a:rPr lang="en-US" sz="1800" dirty="0">
                <a:solidFill>
                  <a:schemeClr val="tx1"/>
                </a:solidFill>
                <a:latin typeface="Cambria" pitchFamily="18" charset="0"/>
                <a:ea typeface="Cambria" pitchFamily="18" charset="0"/>
              </a:rPr>
              <a:t>. Community Interaction – Integrated discussion boards and messaging system for sharing gardening tips, seasonal updates, and events</a:t>
            </a:r>
            <a:r>
              <a:rPr lang="en-US" sz="1800" dirty="0" smtClean="0">
                <a:solidFill>
                  <a:schemeClr val="tx1"/>
                </a:solidFill>
                <a:latin typeface="Cambria" pitchFamily="18" charset="0"/>
                <a:ea typeface="Cambria" pitchFamily="18" charset="0"/>
              </a:rPr>
              <a:t>.</a:t>
            </a:r>
            <a:br>
              <a:rPr lang="en-US" sz="1800" dirty="0" smtClean="0">
                <a:solidFill>
                  <a:schemeClr val="tx1"/>
                </a:solidFill>
                <a:latin typeface="Cambria" pitchFamily="18" charset="0"/>
                <a:ea typeface="Cambria" pitchFamily="18" charset="0"/>
              </a:rPr>
            </a:br>
            <a:r>
              <a:rPr lang="en-US" sz="1800" dirty="0" smtClean="0">
                <a:solidFill>
                  <a:schemeClr val="tx1"/>
                </a:solidFill>
                <a:latin typeface="Cambria" pitchFamily="18" charset="0"/>
                <a:ea typeface="Cambria" pitchFamily="18" charset="0"/>
              </a:rPr>
              <a:t/>
            </a:r>
            <a:br>
              <a:rPr lang="en-US" sz="1800" dirty="0" smtClean="0">
                <a:solidFill>
                  <a:schemeClr val="tx1"/>
                </a:solidFill>
                <a:latin typeface="Cambria" pitchFamily="18" charset="0"/>
                <a:ea typeface="Cambria" pitchFamily="18" charset="0"/>
              </a:rPr>
            </a:br>
            <a:r>
              <a:rPr lang="en-US" sz="1800" dirty="0" smtClean="0">
                <a:solidFill>
                  <a:schemeClr val="tx1"/>
                </a:solidFill>
                <a:latin typeface="Cambria" pitchFamily="18" charset="0"/>
                <a:ea typeface="Cambria" pitchFamily="18" charset="0"/>
              </a:rPr>
              <a:t>5</a:t>
            </a:r>
            <a:r>
              <a:rPr lang="en-US" sz="1800" dirty="0">
                <a:solidFill>
                  <a:schemeClr val="tx1"/>
                </a:solidFill>
                <a:latin typeface="Cambria" pitchFamily="18" charset="0"/>
                <a:ea typeface="Cambria" pitchFamily="18" charset="0"/>
              </a:rPr>
              <a:t>. Mapping and Geo-Tagging – Displays nearby gardens and available crops using an interactive map to make local sharing more efficient</a:t>
            </a:r>
            <a:r>
              <a:rPr lang="en-US" sz="1800" dirty="0" smtClean="0">
                <a:solidFill>
                  <a:schemeClr val="tx1"/>
                </a:solidFill>
                <a:latin typeface="Cambria" pitchFamily="18" charset="0"/>
                <a:ea typeface="Cambria" pitchFamily="18" charset="0"/>
              </a:rPr>
              <a:t>.</a:t>
            </a:r>
            <a:br>
              <a:rPr lang="en-US" sz="1800" dirty="0" smtClean="0">
                <a:solidFill>
                  <a:schemeClr val="tx1"/>
                </a:solidFill>
                <a:latin typeface="Cambria" pitchFamily="18" charset="0"/>
                <a:ea typeface="Cambria" pitchFamily="18" charset="0"/>
              </a:rPr>
            </a:br>
            <a:r>
              <a:rPr lang="en-US" sz="1800" dirty="0" smtClean="0">
                <a:solidFill>
                  <a:schemeClr val="tx1"/>
                </a:solidFill>
                <a:latin typeface="Cambria" pitchFamily="18" charset="0"/>
                <a:ea typeface="Cambria" pitchFamily="18" charset="0"/>
              </a:rPr>
              <a:t/>
            </a:r>
            <a:br>
              <a:rPr lang="en-US" sz="1800" dirty="0" smtClean="0">
                <a:solidFill>
                  <a:schemeClr val="tx1"/>
                </a:solidFill>
                <a:latin typeface="Cambria" pitchFamily="18" charset="0"/>
                <a:ea typeface="Cambria" pitchFamily="18" charset="0"/>
              </a:rPr>
            </a:br>
            <a:r>
              <a:rPr lang="en-US" sz="1800" dirty="0" smtClean="0">
                <a:solidFill>
                  <a:schemeClr val="tx1"/>
                </a:solidFill>
                <a:latin typeface="Cambria" pitchFamily="18" charset="0"/>
                <a:ea typeface="Cambria" pitchFamily="18" charset="0"/>
              </a:rPr>
              <a:t>6</a:t>
            </a:r>
            <a:r>
              <a:rPr lang="en-US" sz="1800" dirty="0">
                <a:solidFill>
                  <a:schemeClr val="tx1"/>
                </a:solidFill>
                <a:latin typeface="Cambria" pitchFamily="18" charset="0"/>
                <a:ea typeface="Cambria" pitchFamily="18" charset="0"/>
              </a:rPr>
              <a:t>. Event and Workshop Management – Allows organizations or individuals to host gardening workshops or sustainability events</a:t>
            </a:r>
            <a:r>
              <a:rPr lang="en-US" sz="1800" dirty="0" smtClean="0">
                <a:solidFill>
                  <a:schemeClr val="tx1"/>
                </a:solidFill>
                <a:latin typeface="Cambria" pitchFamily="18" charset="0"/>
                <a:ea typeface="Cambria" pitchFamily="18" charset="0"/>
              </a:rPr>
              <a:t>.</a:t>
            </a:r>
            <a:endParaRPr lang="en-IN" sz="1800" dirty="0">
              <a:solidFill>
                <a:schemeClr val="tx1"/>
              </a:solidFill>
              <a:latin typeface="Cambria" pitchFamily="18" charset="0"/>
              <a:ea typeface="Cambria" pitchFamily="18" charset="0"/>
            </a:endParaRPr>
          </a:p>
        </p:txBody>
      </p:sp>
    </p:spTree>
    <p:extLst>
      <p:ext uri="{BB962C8B-B14F-4D97-AF65-F5344CB8AC3E}">
        <p14:creationId xmlns:p14="http://schemas.microsoft.com/office/powerpoint/2010/main" val="1466978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row: Pentagon 3">
            <a:extLst>
              <a:ext uri="{FF2B5EF4-FFF2-40B4-BE49-F238E27FC236}">
                <a16:creationId xmlns:a16="http://schemas.microsoft.com/office/drawing/2014/main" xmlns="" id="{791ED0AC-243B-9F8E-DD70-35487F9FCD4C}"/>
              </a:ext>
            </a:extLst>
          </p:cNvPr>
          <p:cNvSpPr/>
          <p:nvPr/>
        </p:nvSpPr>
        <p:spPr>
          <a:xfrm>
            <a:off x="304800" y="589547"/>
            <a:ext cx="8855241" cy="761999"/>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smtClean="0">
                <a:solidFill>
                  <a:schemeClr val="tx1"/>
                </a:solidFill>
              </a:rPr>
              <a:t/>
            </a:r>
            <a:br>
              <a:rPr lang="en-IN" sz="2400" b="1" dirty="0" smtClean="0">
                <a:solidFill>
                  <a:schemeClr val="tx1"/>
                </a:solidFill>
              </a:rPr>
            </a:br>
            <a:r>
              <a:rPr lang="en-IN" sz="2400" b="1" dirty="0" smtClean="0">
                <a:solidFill>
                  <a:schemeClr val="tx1"/>
                </a:solidFill>
              </a:rPr>
              <a:t>Proposed </a:t>
            </a:r>
            <a:r>
              <a:rPr lang="en-IN" sz="2400" b="1" dirty="0">
                <a:solidFill>
                  <a:schemeClr val="tx1"/>
                </a:solidFill>
              </a:rPr>
              <a:t>Methodology(Architectural/Workflow Diagram)</a:t>
            </a:r>
          </a:p>
          <a:p>
            <a:pPr algn="ctr"/>
            <a:endParaRPr lang="en-IN" sz="2800" b="1" dirty="0">
              <a:solidFill>
                <a:schemeClr val="tx1"/>
              </a:solidFill>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054" y="1548063"/>
            <a:ext cx="9462883" cy="5093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3442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rrow: Pentagon 4">
            <a:extLst>
              <a:ext uri="{FF2B5EF4-FFF2-40B4-BE49-F238E27FC236}">
                <a16:creationId xmlns:a16="http://schemas.microsoft.com/office/drawing/2014/main" xmlns="" id="{573975E0-D3DD-38F6-FCFC-D22E3979C377}"/>
              </a:ext>
            </a:extLst>
          </p:cNvPr>
          <p:cNvSpPr/>
          <p:nvPr/>
        </p:nvSpPr>
        <p:spPr>
          <a:xfrm>
            <a:off x="753979" y="616688"/>
            <a:ext cx="2478505" cy="750446"/>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3200" dirty="0" smtClean="0">
                <a:solidFill>
                  <a:schemeClr val="tx1"/>
                </a:solidFill>
              </a:rPr>
              <a:t>Results</a:t>
            </a:r>
            <a:endParaRPr lang="en-IN" sz="3200" dirty="0">
              <a:solidFill>
                <a:schemeClr val="tx1"/>
              </a:solidFill>
            </a:endParaRPr>
          </a:p>
        </p:txBody>
      </p:sp>
      <p:sp>
        <p:nvSpPr>
          <p:cNvPr id="12" name="Title 6"/>
          <p:cNvSpPr>
            <a:spLocks noGrp="1"/>
          </p:cNvSpPr>
          <p:nvPr>
            <p:ph idx="1"/>
          </p:nvPr>
        </p:nvSpPr>
        <p:spPr>
          <a:xfrm>
            <a:off x="753979" y="1459832"/>
            <a:ext cx="10972800" cy="5017168"/>
          </a:xfrm>
        </p:spPr>
        <p:txBody>
          <a:bodyPr>
            <a:normAutofit lnSpcReduction="10000"/>
          </a:bodyPr>
          <a:lstStyle/>
          <a:p>
            <a:pPr marL="0" indent="0">
              <a:buNone/>
            </a:pPr>
            <a:r>
              <a:rPr lang="en-US" sz="1800" dirty="0" smtClean="0">
                <a:latin typeface="Cambria" pitchFamily="18" charset="0"/>
                <a:ea typeface="Cambria" pitchFamily="18" charset="0"/>
              </a:rPr>
              <a:t>1.Efficient </a:t>
            </a:r>
            <a:r>
              <a:rPr lang="en-US" sz="1800" dirty="0">
                <a:latin typeface="Cambria" pitchFamily="18" charset="0"/>
                <a:ea typeface="Cambria" pitchFamily="18" charset="0"/>
              </a:rPr>
              <a:t>Resource Sharing – Users can easily exchange or donate surplus produce, reducing food wastage and improving sustainability</a:t>
            </a:r>
            <a:r>
              <a:rPr lang="en-US" sz="1800" dirty="0" smtClean="0">
                <a:latin typeface="Cambria" pitchFamily="18" charset="0"/>
                <a:ea typeface="Cambria" pitchFamily="18" charset="0"/>
              </a:rPr>
              <a:t>.</a:t>
            </a:r>
          </a:p>
          <a:p>
            <a:pPr marL="0" indent="0">
              <a:buNone/>
            </a:pPr>
            <a:endParaRPr lang="en-US" sz="1800" dirty="0" smtClean="0">
              <a:latin typeface="Cambria" pitchFamily="18" charset="0"/>
              <a:ea typeface="Cambria" pitchFamily="18" charset="0"/>
            </a:endParaRPr>
          </a:p>
          <a:p>
            <a:pPr marL="0" indent="0">
              <a:buNone/>
            </a:pPr>
            <a:r>
              <a:rPr lang="en-US" sz="1800" dirty="0" smtClean="0">
                <a:latin typeface="Cambria" pitchFamily="18" charset="0"/>
                <a:ea typeface="Cambria" pitchFamily="18" charset="0"/>
              </a:rPr>
              <a:t>2</a:t>
            </a:r>
            <a:r>
              <a:rPr lang="en-US" sz="1800" dirty="0">
                <a:latin typeface="Cambria" pitchFamily="18" charset="0"/>
                <a:ea typeface="Cambria" pitchFamily="18" charset="0"/>
              </a:rPr>
              <a:t>. Increased Community Engagement – Strengthened collaboration among local residents, gardeners, and eco-enthusiasts</a:t>
            </a:r>
            <a:r>
              <a:rPr lang="en-US" sz="1800" dirty="0" smtClean="0">
                <a:latin typeface="Cambria" pitchFamily="18" charset="0"/>
                <a:ea typeface="Cambria" pitchFamily="18" charset="0"/>
              </a:rPr>
              <a:t>.</a:t>
            </a:r>
          </a:p>
          <a:p>
            <a:pPr marL="0" indent="0">
              <a:buNone/>
            </a:pPr>
            <a:endParaRPr lang="en-US" sz="1800" dirty="0" smtClean="0">
              <a:latin typeface="Cambria" pitchFamily="18" charset="0"/>
              <a:ea typeface="Cambria" pitchFamily="18" charset="0"/>
            </a:endParaRPr>
          </a:p>
          <a:p>
            <a:pPr marL="0" indent="0">
              <a:buNone/>
            </a:pPr>
            <a:r>
              <a:rPr lang="en-US" sz="1800" dirty="0" smtClean="0">
                <a:latin typeface="Cambria" pitchFamily="18" charset="0"/>
                <a:ea typeface="Cambria" pitchFamily="18" charset="0"/>
              </a:rPr>
              <a:t>3</a:t>
            </a:r>
            <a:r>
              <a:rPr lang="en-US" sz="1800" dirty="0">
                <a:latin typeface="Cambria" pitchFamily="18" charset="0"/>
                <a:ea typeface="Cambria" pitchFamily="18" charset="0"/>
              </a:rPr>
              <a:t>. Enhanced Accessibility – Simplified access to fresh, local produce for community members, including those without personal gardens</a:t>
            </a:r>
            <a:r>
              <a:rPr lang="en-US" sz="1800" dirty="0" smtClean="0">
                <a:latin typeface="Cambria" pitchFamily="18" charset="0"/>
                <a:ea typeface="Cambria" pitchFamily="18" charset="0"/>
              </a:rPr>
              <a:t>.</a:t>
            </a:r>
          </a:p>
          <a:p>
            <a:pPr marL="0" indent="0">
              <a:buNone/>
            </a:pPr>
            <a:endParaRPr lang="en-US" sz="1800" dirty="0" smtClean="0">
              <a:latin typeface="Cambria" pitchFamily="18" charset="0"/>
              <a:ea typeface="Cambria" pitchFamily="18" charset="0"/>
            </a:endParaRPr>
          </a:p>
          <a:p>
            <a:pPr marL="0" indent="0">
              <a:buNone/>
            </a:pPr>
            <a:r>
              <a:rPr lang="en-US" sz="1800" dirty="0" smtClean="0">
                <a:latin typeface="Cambria" pitchFamily="18" charset="0"/>
                <a:ea typeface="Cambria" pitchFamily="18" charset="0"/>
              </a:rPr>
              <a:t>4</a:t>
            </a:r>
            <a:r>
              <a:rPr lang="en-US" sz="1800" dirty="0">
                <a:latin typeface="Cambria" pitchFamily="18" charset="0"/>
                <a:ea typeface="Cambria" pitchFamily="18" charset="0"/>
              </a:rPr>
              <a:t>. Knowledge Exchange – Improved awareness and knowledge sharing about sustainable gardening practices</a:t>
            </a:r>
            <a:r>
              <a:rPr lang="en-US" sz="1800" dirty="0" smtClean="0">
                <a:latin typeface="Cambria" pitchFamily="18" charset="0"/>
                <a:ea typeface="Cambria" pitchFamily="18" charset="0"/>
              </a:rPr>
              <a:t>.</a:t>
            </a:r>
          </a:p>
          <a:p>
            <a:pPr marL="0" indent="0">
              <a:buNone/>
            </a:pPr>
            <a:endParaRPr lang="en-US" sz="1800" dirty="0" smtClean="0">
              <a:latin typeface="Cambria" pitchFamily="18" charset="0"/>
              <a:ea typeface="Cambria" pitchFamily="18" charset="0"/>
            </a:endParaRPr>
          </a:p>
          <a:p>
            <a:pPr marL="0" indent="0">
              <a:buNone/>
            </a:pPr>
            <a:r>
              <a:rPr lang="en-US" sz="1800" dirty="0" smtClean="0">
                <a:latin typeface="Cambria" pitchFamily="18" charset="0"/>
                <a:ea typeface="Cambria" pitchFamily="18" charset="0"/>
              </a:rPr>
              <a:t>5</a:t>
            </a:r>
            <a:r>
              <a:rPr lang="en-US" sz="1800" dirty="0">
                <a:latin typeface="Cambria" pitchFamily="18" charset="0"/>
                <a:ea typeface="Cambria" pitchFamily="18" charset="0"/>
              </a:rPr>
              <a:t>. Transparency and Accountability – A monitored, user-friendly environment ensuring fair trade and genuine interactions</a:t>
            </a:r>
            <a:r>
              <a:rPr lang="en-US" sz="1800" dirty="0" smtClean="0">
                <a:latin typeface="Cambria" pitchFamily="18" charset="0"/>
                <a:ea typeface="Cambria" pitchFamily="18" charset="0"/>
              </a:rPr>
              <a:t>.</a:t>
            </a:r>
          </a:p>
          <a:p>
            <a:pPr marL="0" indent="0">
              <a:buNone/>
            </a:pPr>
            <a:endParaRPr lang="en-US" sz="1800" dirty="0" smtClean="0">
              <a:latin typeface="Cambria" pitchFamily="18" charset="0"/>
              <a:ea typeface="Cambria" pitchFamily="18" charset="0"/>
            </a:endParaRPr>
          </a:p>
          <a:p>
            <a:pPr marL="0" indent="0">
              <a:buNone/>
            </a:pPr>
            <a:r>
              <a:rPr lang="en-US" sz="1800" dirty="0" smtClean="0">
                <a:latin typeface="Cambria" pitchFamily="18" charset="0"/>
                <a:ea typeface="Cambria" pitchFamily="18" charset="0"/>
              </a:rPr>
              <a:t>6</a:t>
            </a:r>
            <a:r>
              <a:rPr lang="en-US" sz="1800" dirty="0">
                <a:latin typeface="Cambria" pitchFamily="18" charset="0"/>
                <a:ea typeface="Cambria" pitchFamily="18" charset="0"/>
              </a:rPr>
              <a:t>. Scalability and Future Growth – The platform can expand to include new regions, advanced analytics (like crop yield tracking), and integration with government sustainability programs.</a:t>
            </a:r>
            <a:endParaRPr lang="en-IN" sz="1800" dirty="0">
              <a:latin typeface="Cambria" pitchFamily="18" charset="0"/>
              <a:ea typeface="Cambria" pitchFamily="18" charset="0"/>
            </a:endParaRPr>
          </a:p>
        </p:txBody>
      </p:sp>
    </p:spTree>
    <p:extLst>
      <p:ext uri="{BB962C8B-B14F-4D97-AF65-F5344CB8AC3E}">
        <p14:creationId xmlns:p14="http://schemas.microsoft.com/office/powerpoint/2010/main" val="2514546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rrow: Pentagon 4">
            <a:extLst>
              <a:ext uri="{FF2B5EF4-FFF2-40B4-BE49-F238E27FC236}">
                <a16:creationId xmlns:a16="http://schemas.microsoft.com/office/drawing/2014/main" xmlns="" id="{573975E0-D3DD-38F6-FCFC-D22E3979C377}"/>
              </a:ext>
            </a:extLst>
          </p:cNvPr>
          <p:cNvSpPr/>
          <p:nvPr/>
        </p:nvSpPr>
        <p:spPr>
          <a:xfrm>
            <a:off x="232610" y="536478"/>
            <a:ext cx="6521116" cy="650638"/>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3200" dirty="0" smtClean="0"/>
              <a:t/>
            </a:r>
            <a:br>
              <a:rPr lang="en-IN" sz="3200" dirty="0" smtClean="0"/>
            </a:br>
            <a:r>
              <a:rPr lang="en-IN" sz="3200" b="1" dirty="0" smtClean="0">
                <a:solidFill>
                  <a:schemeClr val="tx1"/>
                </a:solidFill>
              </a:rPr>
              <a:t>Screenshots </a:t>
            </a:r>
            <a:r>
              <a:rPr lang="en-IN" sz="3200" b="1" dirty="0">
                <a:solidFill>
                  <a:schemeClr val="tx1"/>
                </a:solidFill>
              </a:rPr>
              <a:t>of working model</a:t>
            </a:r>
          </a:p>
          <a:p>
            <a:pPr algn="ctr"/>
            <a:endParaRPr lang="en-IN" sz="3200" b="1" dirty="0">
              <a:solidFill>
                <a:schemeClr val="tx1"/>
              </a:solidFill>
            </a:endParaRPr>
          </a:p>
        </p:txBody>
      </p:sp>
      <p:sp>
        <p:nvSpPr>
          <p:cNvPr id="2" name="TextBox 1"/>
          <p:cNvSpPr txBox="1"/>
          <p:nvPr/>
        </p:nvSpPr>
        <p:spPr>
          <a:xfrm>
            <a:off x="385011" y="1539860"/>
            <a:ext cx="1620252" cy="369332"/>
          </a:xfrm>
          <a:prstGeom prst="rect">
            <a:avLst/>
          </a:prstGeom>
          <a:noFill/>
        </p:spPr>
        <p:txBody>
          <a:bodyPr wrap="square" rtlCol="0">
            <a:spAutoFit/>
          </a:bodyPr>
          <a:lstStyle/>
          <a:p>
            <a:pPr marL="285750" indent="-285750">
              <a:buFont typeface="Wingdings" pitchFamily="2" charset="2"/>
              <a:buChar char="q"/>
            </a:pPr>
            <a:r>
              <a:rPr lang="en-IN" dirty="0" smtClean="0"/>
              <a:t>Sign in</a:t>
            </a:r>
            <a:endParaRPr lang="en-IN" dirty="0"/>
          </a:p>
        </p:txBody>
      </p:sp>
      <p:pic>
        <p:nvPicPr>
          <p:cNvPr id="2054" name="Picture 6" descr="C:\Users\MD SHAHEBAZ ALI\OneDrive\Pictures\Screenshots\Screenshot 2026-07-16 19025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010" y="1909192"/>
            <a:ext cx="4997115" cy="470059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Users\MD SHAHEBAZ ALI\OneDrive\Pictures\Screenshots\Screenshot 2026-07-16 19052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1647" y="1909192"/>
            <a:ext cx="5553364" cy="471204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261647" y="1427747"/>
            <a:ext cx="2323341" cy="369332"/>
          </a:xfrm>
          <a:prstGeom prst="rect">
            <a:avLst/>
          </a:prstGeom>
          <a:noFill/>
        </p:spPr>
        <p:txBody>
          <a:bodyPr wrap="square" rtlCol="0">
            <a:spAutoFit/>
          </a:bodyPr>
          <a:lstStyle/>
          <a:p>
            <a:pPr marL="285750" indent="-285750">
              <a:buFont typeface="Wingdings" pitchFamily="2" charset="2"/>
              <a:buChar char="q"/>
            </a:pPr>
            <a:r>
              <a:rPr lang="en-IN" dirty="0" smtClean="0"/>
              <a:t>Create Account</a:t>
            </a:r>
            <a:endParaRPr lang="en-IN" dirty="0"/>
          </a:p>
        </p:txBody>
      </p:sp>
    </p:spTree>
    <p:extLst>
      <p:ext uri="{BB962C8B-B14F-4D97-AF65-F5344CB8AC3E}">
        <p14:creationId xmlns:p14="http://schemas.microsoft.com/office/powerpoint/2010/main" val="285810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MD SHAHEBAZ ALI\OneDrive\Pictures\Screenshots\Screenshot 2026-07-16 19161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485" y="1196497"/>
            <a:ext cx="11510210" cy="531659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84485" y="689811"/>
            <a:ext cx="2580289" cy="369332"/>
          </a:xfrm>
          <a:prstGeom prst="rect">
            <a:avLst/>
          </a:prstGeom>
          <a:noFill/>
        </p:spPr>
        <p:txBody>
          <a:bodyPr wrap="square" rtlCol="0">
            <a:spAutoFit/>
          </a:bodyPr>
          <a:lstStyle/>
          <a:p>
            <a:pPr marL="285750" indent="-285750">
              <a:buFont typeface="Wingdings" pitchFamily="2" charset="2"/>
              <a:buChar char="q"/>
            </a:pPr>
            <a:r>
              <a:rPr lang="en-IN" dirty="0" smtClean="0"/>
              <a:t>Dashboard</a:t>
            </a:r>
            <a:endParaRPr lang="en-IN" dirty="0"/>
          </a:p>
        </p:txBody>
      </p:sp>
    </p:spTree>
    <p:extLst>
      <p:ext uri="{BB962C8B-B14F-4D97-AF65-F5344CB8AC3E}">
        <p14:creationId xmlns:p14="http://schemas.microsoft.com/office/powerpoint/2010/main" val="3473585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MD SHAHEBAZ ALI\OneDrive\Pictures\Screenshots\Screenshot 2026-07-16 19201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37" y="1219564"/>
            <a:ext cx="5724405" cy="507696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Users\MD SHAHEBAZ ALI\OneDrive\Pictures\Screenshots\Screenshot 2026-07-16 19205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0167" y="1323475"/>
            <a:ext cx="5791199" cy="497305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82838" y="850232"/>
            <a:ext cx="2417385" cy="369332"/>
          </a:xfrm>
          <a:prstGeom prst="rect">
            <a:avLst/>
          </a:prstGeom>
          <a:noFill/>
        </p:spPr>
        <p:txBody>
          <a:bodyPr wrap="square" rtlCol="0">
            <a:spAutoFit/>
          </a:bodyPr>
          <a:lstStyle/>
          <a:p>
            <a:pPr marL="285750" indent="-285750">
              <a:buFont typeface="Wingdings" pitchFamily="2" charset="2"/>
              <a:buChar char="q"/>
            </a:pPr>
            <a:r>
              <a:rPr lang="en-IN" b="1" dirty="0" smtClean="0"/>
              <a:t>Gardens</a:t>
            </a:r>
            <a:endParaRPr lang="en-IN" b="1" dirty="0"/>
          </a:p>
        </p:txBody>
      </p:sp>
      <p:sp>
        <p:nvSpPr>
          <p:cNvPr id="3" name="TextBox 2"/>
          <p:cNvSpPr txBox="1"/>
          <p:nvPr/>
        </p:nvSpPr>
        <p:spPr>
          <a:xfrm>
            <a:off x="6039853" y="850232"/>
            <a:ext cx="1894035" cy="369332"/>
          </a:xfrm>
          <a:prstGeom prst="rect">
            <a:avLst/>
          </a:prstGeom>
          <a:noFill/>
        </p:spPr>
        <p:txBody>
          <a:bodyPr wrap="square" rtlCol="0">
            <a:spAutoFit/>
          </a:bodyPr>
          <a:lstStyle/>
          <a:p>
            <a:pPr marL="285750" indent="-285750">
              <a:buFont typeface="Wingdings" pitchFamily="2" charset="2"/>
              <a:buChar char="q"/>
            </a:pPr>
            <a:r>
              <a:rPr lang="en-IN" b="1" dirty="0" smtClean="0"/>
              <a:t>Crops</a:t>
            </a:r>
            <a:endParaRPr lang="en-IN" b="1" dirty="0"/>
          </a:p>
        </p:txBody>
      </p:sp>
    </p:spTree>
    <p:extLst>
      <p:ext uri="{BB962C8B-B14F-4D97-AF65-F5344CB8AC3E}">
        <p14:creationId xmlns:p14="http://schemas.microsoft.com/office/powerpoint/2010/main" val="3519517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C:\Users\MD SHAHEBAZ ALI\OneDrive\Pictures\Screenshots\Screenshot 2026-07-16 19015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484" y="986953"/>
            <a:ext cx="5501609" cy="284711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C:\Users\MD SHAHEBAZ ALI\OneDrive\Pictures\Screenshots\Screenshot 2026-07-16 190206.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67662" y="1123311"/>
            <a:ext cx="5935579" cy="2710752"/>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C:\Users\MD SHAHEBAZ ALI\OneDrive\Pictures\Screenshots\Screenshot 2026-07-16 190216.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79054" y="3906253"/>
            <a:ext cx="7116819" cy="282340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52400" y="617621"/>
            <a:ext cx="3653309" cy="369332"/>
          </a:xfrm>
          <a:prstGeom prst="rect">
            <a:avLst/>
          </a:prstGeom>
          <a:noFill/>
        </p:spPr>
        <p:txBody>
          <a:bodyPr wrap="square" rtlCol="0">
            <a:spAutoFit/>
          </a:bodyPr>
          <a:lstStyle/>
          <a:p>
            <a:pPr marL="285750" indent="-285750">
              <a:buFont typeface="Wingdings" pitchFamily="2" charset="2"/>
              <a:buChar char="q"/>
            </a:pPr>
            <a:r>
              <a:rPr lang="en-IN" b="1" dirty="0" smtClean="0">
                <a:latin typeface="Cambria" pitchFamily="18" charset="0"/>
                <a:ea typeface="Cambria" pitchFamily="18" charset="0"/>
              </a:rPr>
              <a:t>Community</a:t>
            </a:r>
            <a:r>
              <a:rPr lang="en-IN" b="1" dirty="0" smtClean="0"/>
              <a:t> feed</a:t>
            </a:r>
            <a:endParaRPr lang="en-IN" b="1" dirty="0"/>
          </a:p>
        </p:txBody>
      </p:sp>
      <p:sp>
        <p:nvSpPr>
          <p:cNvPr id="3" name="TextBox 2"/>
          <p:cNvSpPr txBox="1"/>
          <p:nvPr/>
        </p:nvSpPr>
        <p:spPr>
          <a:xfrm>
            <a:off x="6144127" y="633663"/>
            <a:ext cx="1649943" cy="369332"/>
          </a:xfrm>
          <a:prstGeom prst="rect">
            <a:avLst/>
          </a:prstGeom>
          <a:noFill/>
        </p:spPr>
        <p:txBody>
          <a:bodyPr wrap="square" rtlCol="0">
            <a:spAutoFit/>
          </a:bodyPr>
          <a:lstStyle/>
          <a:p>
            <a:pPr marL="285750" indent="-285750">
              <a:buFont typeface="Wingdings" pitchFamily="2" charset="2"/>
              <a:buChar char="q"/>
            </a:pPr>
            <a:r>
              <a:rPr lang="en-IN" b="1" dirty="0" smtClean="0">
                <a:latin typeface="Cambria" pitchFamily="18" charset="0"/>
                <a:ea typeface="Cambria" pitchFamily="18" charset="0"/>
              </a:rPr>
              <a:t>Messages</a:t>
            </a:r>
            <a:endParaRPr lang="en-IN" b="1" dirty="0">
              <a:latin typeface="Cambria" pitchFamily="18" charset="0"/>
              <a:ea typeface="Cambria" pitchFamily="18" charset="0"/>
            </a:endParaRPr>
          </a:p>
        </p:txBody>
      </p:sp>
      <p:sp>
        <p:nvSpPr>
          <p:cNvPr id="4" name="TextBox 3"/>
          <p:cNvSpPr txBox="1"/>
          <p:nvPr/>
        </p:nvSpPr>
        <p:spPr>
          <a:xfrm>
            <a:off x="946484" y="4267200"/>
            <a:ext cx="1491537" cy="369332"/>
          </a:xfrm>
          <a:prstGeom prst="rect">
            <a:avLst/>
          </a:prstGeom>
          <a:noFill/>
        </p:spPr>
        <p:txBody>
          <a:bodyPr wrap="square" rtlCol="0">
            <a:spAutoFit/>
          </a:bodyPr>
          <a:lstStyle/>
          <a:p>
            <a:pPr marL="285750" indent="-285750">
              <a:buFont typeface="Wingdings" pitchFamily="2" charset="2"/>
              <a:buChar char="q"/>
            </a:pPr>
            <a:r>
              <a:rPr lang="en-IN" b="1" dirty="0" smtClean="0">
                <a:latin typeface="Cambria" pitchFamily="18" charset="0"/>
                <a:ea typeface="Cambria" pitchFamily="18" charset="0"/>
              </a:rPr>
              <a:t>Map</a:t>
            </a:r>
            <a:endParaRPr lang="en-IN" b="1" dirty="0">
              <a:latin typeface="Cambria" pitchFamily="18" charset="0"/>
              <a:ea typeface="Cambria" pitchFamily="18" charset="0"/>
            </a:endParaRPr>
          </a:p>
        </p:txBody>
      </p:sp>
    </p:spTree>
    <p:extLst>
      <p:ext uri="{BB962C8B-B14F-4D97-AF65-F5344CB8AC3E}">
        <p14:creationId xmlns:p14="http://schemas.microsoft.com/office/powerpoint/2010/main" val="3054610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0D4147F-6CCE-3752-CBE9-8E581FA3BFC5}"/>
              </a:ext>
            </a:extLst>
          </p:cNvPr>
          <p:cNvSpPr>
            <a:spLocks noGrp="1"/>
          </p:cNvSpPr>
          <p:nvPr>
            <p:ph idx="1"/>
          </p:nvPr>
        </p:nvSpPr>
        <p:spPr/>
        <p:txBody>
          <a:bodyPr>
            <a:normAutofit lnSpcReduction="10000"/>
          </a:bodyPr>
          <a:lstStyle/>
          <a:p>
            <a:r>
              <a:rPr lang="en-US" sz="1800" dirty="0">
                <a:latin typeface="Cambria" pitchFamily="18" charset="0"/>
                <a:ea typeface="Cambria" pitchFamily="18" charset="0"/>
              </a:rPr>
              <a:t>The </a:t>
            </a:r>
            <a:r>
              <a:rPr lang="en-US" sz="1800" b="1" dirty="0">
                <a:latin typeface="Cambria" pitchFamily="18" charset="0"/>
                <a:ea typeface="Cambria" pitchFamily="18" charset="0"/>
              </a:rPr>
              <a:t>Community Garden &amp; Crop Sharing Platform</a:t>
            </a:r>
            <a:r>
              <a:rPr lang="en-US" sz="1800" dirty="0">
                <a:latin typeface="Cambria" pitchFamily="18" charset="0"/>
                <a:ea typeface="Cambria" pitchFamily="18" charset="0"/>
              </a:rPr>
              <a:t> provides a modern solution to promote sustainable living, healthy eating, and community engagement. By connecting gardeners and local residents, the platform facilitates the efficient sharing of home-grown crops, reduces food wastage, and encourages eco-friendly gardening practices</a:t>
            </a:r>
            <a:r>
              <a:rPr lang="en-US" sz="1800" dirty="0" smtClean="0">
                <a:latin typeface="Cambria" pitchFamily="18" charset="0"/>
                <a:ea typeface="Cambria" pitchFamily="18" charset="0"/>
              </a:rPr>
              <a:t>.</a:t>
            </a:r>
          </a:p>
          <a:p>
            <a:endParaRPr lang="en-US" sz="1800" dirty="0">
              <a:latin typeface="Cambria" pitchFamily="18" charset="0"/>
              <a:ea typeface="Cambria" pitchFamily="18" charset="0"/>
            </a:endParaRPr>
          </a:p>
          <a:p>
            <a:r>
              <a:rPr lang="en-US" sz="1800" dirty="0">
                <a:latin typeface="Cambria" pitchFamily="18" charset="0"/>
                <a:ea typeface="Cambria" pitchFamily="18" charset="0"/>
              </a:rPr>
              <a:t>Through features like crop listing, location-based search, notifications, and community forums, the platform makes crop sharing simple, convenient, and interactive. Users can not only access fresh produce but also learn and share knowledge about gardening techniques, seasonal planting, and sustainability practices</a:t>
            </a:r>
            <a:r>
              <a:rPr lang="en-US" sz="1800" dirty="0" smtClean="0">
                <a:latin typeface="Cambria" pitchFamily="18" charset="0"/>
                <a:ea typeface="Cambria" pitchFamily="18" charset="0"/>
              </a:rPr>
              <a:t>.</a:t>
            </a:r>
          </a:p>
          <a:p>
            <a:endParaRPr lang="en-US" sz="1800" dirty="0">
              <a:latin typeface="Cambria" pitchFamily="18" charset="0"/>
              <a:ea typeface="Cambria" pitchFamily="18" charset="0"/>
            </a:endParaRPr>
          </a:p>
          <a:p>
            <a:r>
              <a:rPr lang="en-US" sz="1800" dirty="0">
                <a:latin typeface="Cambria" pitchFamily="18" charset="0"/>
                <a:ea typeface="Cambria" pitchFamily="18" charset="0"/>
              </a:rPr>
              <a:t>This platform strengthens community bonds by encouraging cooperation, participation in local events, and collaboration on community gardening projects. It provides an effective way for neighborhoods to become more self-sufficient and environmentally conscious while promoting social interaction and knowledge sharing</a:t>
            </a:r>
            <a:r>
              <a:rPr lang="en-US" sz="1800" dirty="0" smtClean="0">
                <a:latin typeface="Cambria" pitchFamily="18" charset="0"/>
                <a:ea typeface="Cambria" pitchFamily="18" charset="0"/>
              </a:rPr>
              <a:t>.</a:t>
            </a:r>
          </a:p>
          <a:p>
            <a:endParaRPr lang="en-US" sz="1800" dirty="0">
              <a:latin typeface="Cambria" pitchFamily="18" charset="0"/>
              <a:ea typeface="Cambria" pitchFamily="18" charset="0"/>
            </a:endParaRPr>
          </a:p>
          <a:p>
            <a:r>
              <a:rPr lang="en-US" sz="1800" dirty="0">
                <a:latin typeface="Cambria" pitchFamily="18" charset="0"/>
                <a:ea typeface="Cambria" pitchFamily="18" charset="0"/>
              </a:rPr>
              <a:t>In summary, the project demonstrates how technology can be leveraged to support local food systems, foster social connectivity, and promote sustainable practices. It offers a practical, user-friendly, and scalable approach for building healthier, greener, and more resilient communities.</a:t>
            </a:r>
          </a:p>
          <a:p>
            <a:pPr marL="0" indent="0" algn="just">
              <a:buNone/>
            </a:pPr>
            <a:endParaRPr lang="en-IN" sz="2100" dirty="0">
              <a:latin typeface="Cambria" pitchFamily="18" charset="0"/>
              <a:ea typeface="Cambria" pitchFamily="18" charset="0"/>
              <a:cs typeface="Times New Roman" pitchFamily="18" charset="0"/>
            </a:endParaRPr>
          </a:p>
        </p:txBody>
      </p:sp>
      <p:sp>
        <p:nvSpPr>
          <p:cNvPr id="5" name="Arrow: Pentagon 4">
            <a:extLst>
              <a:ext uri="{FF2B5EF4-FFF2-40B4-BE49-F238E27FC236}">
                <a16:creationId xmlns:a16="http://schemas.microsoft.com/office/drawing/2014/main" xmlns="" id="{573975E0-D3DD-38F6-FCFC-D22E3979C377}"/>
              </a:ext>
            </a:extLst>
          </p:cNvPr>
          <p:cNvSpPr/>
          <p:nvPr/>
        </p:nvSpPr>
        <p:spPr>
          <a:xfrm>
            <a:off x="753979" y="616688"/>
            <a:ext cx="2847474" cy="750446"/>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Conclusion</a:t>
            </a:r>
            <a:endParaRPr lang="en-IN" sz="3200" b="1" dirty="0">
              <a:solidFill>
                <a:schemeClr val="tx1"/>
              </a:solidFill>
            </a:endParaRPr>
          </a:p>
        </p:txBody>
      </p:sp>
    </p:spTree>
    <p:extLst>
      <p:ext uri="{BB962C8B-B14F-4D97-AF65-F5344CB8AC3E}">
        <p14:creationId xmlns:p14="http://schemas.microsoft.com/office/powerpoint/2010/main" val="3625224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86593E-9CCE-4C44-9E3C-FD98DFA0D334}"/>
              </a:ext>
            </a:extLst>
          </p:cNvPr>
          <p:cNvSpPr>
            <a:spLocks noGrp="1"/>
          </p:cNvSpPr>
          <p:nvPr>
            <p:ph type="title"/>
          </p:nvPr>
        </p:nvSpPr>
        <p:spPr>
          <a:xfrm>
            <a:off x="328863" y="267187"/>
            <a:ext cx="11496193" cy="6098959"/>
          </a:xfrm>
        </p:spPr>
        <p:txBody>
          <a:bodyPr>
            <a:normAutofit/>
          </a:bodyPr>
          <a:lstStyle/>
          <a:p>
            <a:pPr algn="ctr"/>
            <a:r>
              <a:rPr lang="en-US" sz="4400" b="1" dirty="0">
                <a:solidFill>
                  <a:schemeClr val="tx1"/>
                </a:solidFill>
                <a:latin typeface="Calibri" panose="020F0502020204030204" pitchFamily="34" charset="0"/>
                <a:cs typeface="Calibri" panose="020F0502020204030204" pitchFamily="34" charset="0"/>
              </a:rPr>
              <a:t>THANK YOU</a:t>
            </a:r>
            <a:endParaRPr lang="en-IN" sz="44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29121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871</TotalTime>
  <Words>1257</Words>
  <Application>Microsoft Office PowerPoint</Application>
  <PresentationFormat>Custom</PresentationFormat>
  <Paragraphs>80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Clarity</vt:lpstr>
      <vt:lpstr>                                                                                                                                                   Department of Computer Science &amp; Engineering              Community Garden &amp; Crop Sharing Platform                                                                                                                                                   Batch no : 80                                                                                                                                                 1. 2411CS010349 MOHAMMAD SHAHEBAZ ALI                                                                                                                                    2. 2411CS010346 M. POOJITHA                                                                                                          3. 2411CS010315 M. HASINI        4. 2411CS010322 MALEPU SRISHANTH                          </vt:lpstr>
      <vt:lpstr>Table of Contents</vt:lpstr>
      <vt:lpstr>PowerPoint Presentation</vt:lpstr>
      <vt:lpstr>PowerPoint Presentation</vt:lpstr>
      <vt:lpstr>PowerPoint Presentation</vt:lpstr>
      <vt:lpstr>PowerPoint Presentation</vt:lpstr>
      <vt:lpstr>1. User Registration and Profiles – Users can create personal profiles as gardeners, consumers, or volunteers, including their location and gardening interests.  2. Garden Listing and Crop Management – Gardeners can list their gardens, upload crop details, and manage availability of produce.  3. Crop Sharing and Exchange System – Enables users to post available crops, request items from others, or schedule exchanges and donations.  4. Community Interaction – Integrated discussion boards and messaging system for sharing gardening tips, seasonal updates, and events.  5. Mapping and Geo-Tagging – Displays nearby gardens and available crops using an interactive map to make local sharing more efficient.  6. Event and Workshop Management – Allows organizations or individuals to host gardening workshops or sustainability events.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TALLA PADMAVATHI COLLEGE OF Engineering                       SOMIDI, KAZIPET, WARANGAL.       Department of electronics and communication engineering   Research area : VLSI                             Specific area of research: LOW POWER VLSIDESIGN     Proposed title name of the project:                    AN APC-COM BASED LUT OPTIMIZATION FOR DSP APPLICATIONS                                                                                                                                                           Batch no.1                                                                                                                                                                  1. 18UC1A0420 (N.Sravani)                                                                                                                                                                  2.18UC1A0401 (A.Swapna)                                                                                                                                3.18UC1A0428 (T.Satvika)                                                                                                                                                               4.17UC1A0405(E.Mahesh)</dc:title>
  <dc:creator>sravani neelam</dc:creator>
  <cp:lastModifiedBy>MD SHAHEBAZ ALI</cp:lastModifiedBy>
  <cp:revision>79</cp:revision>
  <dcterms:created xsi:type="dcterms:W3CDTF">2021-11-21T08:56:41Z</dcterms:created>
  <dcterms:modified xsi:type="dcterms:W3CDTF">2026-07-16T18:19:47Z</dcterms:modified>
</cp:coreProperties>
</file>